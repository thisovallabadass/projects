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3"/>
  </p:notesMasterIdLst>
  <p:handoutMasterIdLst>
    <p:handoutMasterId r:id="rId24"/>
  </p:handoutMasterIdLst>
  <p:sldIdLst>
    <p:sldId id="256" r:id="rId3"/>
    <p:sldId id="257" r:id="rId4"/>
    <p:sldId id="365" r:id="rId5"/>
    <p:sldId id="377" r:id="rId6"/>
    <p:sldId id="366" r:id="rId7"/>
    <p:sldId id="381" r:id="rId8"/>
    <p:sldId id="382" r:id="rId9"/>
    <p:sldId id="367" r:id="rId10"/>
    <p:sldId id="368" r:id="rId11"/>
    <p:sldId id="370" r:id="rId12"/>
    <p:sldId id="387" r:id="rId13"/>
    <p:sldId id="371" r:id="rId14"/>
    <p:sldId id="383" r:id="rId15"/>
    <p:sldId id="384" r:id="rId16"/>
    <p:sldId id="385" r:id="rId17"/>
    <p:sldId id="373" r:id="rId18"/>
    <p:sldId id="388" r:id="rId19"/>
    <p:sldId id="374" r:id="rId20"/>
    <p:sldId id="375" r:id="rId21"/>
    <p:sldId id="326" r:id="rId22"/>
  </p:sldIdLst>
  <p:sldSz cx="12192000" cy="6858000"/>
  <p:notesSz cx="6858000" cy="9144000"/>
  <p:embeddedFontLst>
    <p:embeddedFont>
      <p:font typeface="Arial Rounded MT Bold" panose="020F0704030504030204" pitchFamily="34" charset="0"/>
      <p:regular r:id="rId25"/>
    </p:embeddedFont>
    <p:embeddedFont>
      <p:font typeface="Bookman Old Style" panose="02050604050505020204" pitchFamily="18" charset="0"/>
      <p:regular r:id="rId26"/>
      <p:bold r:id="rId27"/>
      <p:italic r:id="rId28"/>
      <p:boldItalic r:id="rId29"/>
    </p:embeddedFont>
    <p:embeddedFont>
      <p:font typeface="Century Gothic" panose="020B0502020202020204" pitchFamily="34" charset="0"/>
      <p:regular r:id="rId30"/>
      <p:bold r:id="rId31"/>
      <p:italic r:id="rId32"/>
      <p:boldItalic r:id="rId33"/>
    </p:embeddedFont>
    <p:embeddedFont>
      <p:font typeface="Overlock" panose="020B0604020202020204" charset="0"/>
      <p:regular r:id="rId34"/>
    </p:embeddedFont>
    <p:embeddedFont>
      <p:font typeface="Quattrocento Sans" panose="020B0502050000020003" pitchFamily="3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8" userDrawn="1">
          <p15:clr>
            <a:srgbClr val="000000"/>
          </p15:clr>
        </p15:guide>
        <p15:guide id="2" pos="3840" userDrawn="1">
          <p15:clr>
            <a:srgbClr val="000000"/>
          </p15:clr>
        </p15:guide>
      </p15:sldGuideLst>
    </p:ext>
    <p:ext uri="{2D200454-40CA-4A62-9FC3-DE9A4176ACB9}">
      <p15:notesGuideLst xmlns:p15="http://schemas.microsoft.com/office/powerpoint/2012/main">
        <p15:guide id="1" orient="horz" pos="289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6" d="100"/>
          <a:sy n="76" d="100"/>
        </p:scale>
        <p:origin x="272" y="32"/>
      </p:cViewPr>
      <p:guideLst>
        <p:guide orient="horz" pos="2168"/>
        <p:guide pos="3840"/>
      </p:guideLst>
    </p:cSldViewPr>
  </p:slideViewPr>
  <p:notesTextViewPr>
    <p:cViewPr>
      <p:scale>
        <a:sx n="1" d="1"/>
        <a:sy n="1" d="1"/>
      </p:scale>
      <p:origin x="0" y="0"/>
    </p:cViewPr>
  </p:notesTextViewPr>
  <p:notesViewPr>
    <p:cSldViewPr snapToGrid="0">
      <p:cViewPr varScale="1">
        <p:scale>
          <a:sx n="55" d="100"/>
          <a:sy n="55" d="100"/>
        </p:scale>
        <p:origin x="-2892" y="-102"/>
      </p:cViewPr>
      <p:guideLst>
        <p:guide orient="horz" pos="289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E370304-5C45-4A29-AF69-DA8E27EB3D7D}" type="datetimeFigureOut">
              <a:rPr lang="en-US" smtClean="0"/>
              <a:t>11/13/2025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14DAF77-E01D-4DCA-9435-93588B86E19B}"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t>‹#›</a:t>
            </a:fld>
            <a:endPar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
        <p:cNvGrpSpPr/>
        <p:nvPr/>
      </p:nvGrpSpPr>
      <p:grpSpPr>
        <a:xfrm>
          <a:off x="0" y="0"/>
          <a:ext cx="0" cy="0"/>
          <a:chOff x="0" y="0"/>
          <a:chExt cx="0" cy="0"/>
        </a:xfrm>
      </p:grpSpPr>
      <p:sp>
        <p:nvSpPr>
          <p:cNvPr id="20" name="Google Shape;20;p7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7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
        <p:cNvGrpSpPr/>
        <p:nvPr/>
      </p:nvGrpSpPr>
      <p:grpSpPr>
        <a:xfrm>
          <a:off x="0" y="0"/>
          <a:ext cx="0" cy="0"/>
          <a:chOff x="0" y="0"/>
          <a:chExt cx="0" cy="0"/>
        </a:xfrm>
      </p:grpSpPr>
      <p:sp>
        <p:nvSpPr>
          <p:cNvPr id="26" name="Google Shape;26;p7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7" name="Google Shape;27;p79"/>
          <p:cNvSpPr txBox="1">
            <a:spLocks noGrp="1"/>
          </p:cNvSpPr>
          <p:nvPr>
            <p:ph type="body" idx="1"/>
          </p:nvPr>
        </p:nvSpPr>
        <p:spPr>
          <a:xfrm rot="5400000">
            <a:off x="3920332" y="-1256507"/>
            <a:ext cx="4351337"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1"/>
        <p:cNvGrpSpPr/>
        <p:nvPr/>
      </p:nvGrpSpPr>
      <p:grpSpPr>
        <a:xfrm>
          <a:off x="0" y="0"/>
          <a:ext cx="0" cy="0"/>
          <a:chOff x="0" y="0"/>
          <a:chExt cx="0" cy="0"/>
        </a:xfrm>
      </p:grpSpPr>
      <p:sp>
        <p:nvSpPr>
          <p:cNvPr id="32" name="Google Shape;32;p8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3" name="Google Shape;33;p80"/>
          <p:cNvSpPr>
            <a:spLocks noGrp="1"/>
          </p:cNvSpPr>
          <p:nvPr>
            <p:ph type="pic" idx="2"/>
          </p:nvPr>
        </p:nvSpPr>
        <p:spPr>
          <a:xfrm>
            <a:off x="5183188" y="987425"/>
            <a:ext cx="6172200" cy="4873625"/>
          </a:xfrm>
          <a:prstGeom prst="rect">
            <a:avLst/>
          </a:prstGeom>
          <a:noFill/>
          <a:ln>
            <a:noFill/>
          </a:ln>
        </p:spPr>
      </p:sp>
      <p:sp>
        <p:nvSpPr>
          <p:cNvPr id="34" name="Google Shape;34;p8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5" name="Google Shape;35;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
        <p:cNvGrpSpPr/>
        <p:nvPr/>
      </p:nvGrpSpPr>
      <p:grpSpPr>
        <a:xfrm>
          <a:off x="0" y="0"/>
          <a:ext cx="0" cy="0"/>
          <a:chOff x="0" y="0"/>
          <a:chExt cx="0" cy="0"/>
        </a:xfrm>
      </p:grpSpPr>
      <p:sp>
        <p:nvSpPr>
          <p:cNvPr id="39" name="Google Shape;39;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0" name="Google Shape;40;p8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1" name="Google Shape;41;p8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2" name="Google Shape;42;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7" name="Google Shape;47;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8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2" name="Google Shape;52;p8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8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8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8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1" name="Google Shape;61;p8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8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8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8" name="Google Shape;68;p8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69" name="Google Shape;69;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8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86"/>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8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8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1" name="Google Shape;81;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200"/>
              <a:buFont typeface="Calibri" panose="020F0502020204030204"/>
              <a:buNone/>
              <a:defRPr sz="1200" b="0" i="0" u="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4"/>
        <p:cNvGrpSpPr/>
        <p:nvPr/>
      </p:nvGrpSpPr>
      <p:grpSpPr>
        <a:xfrm>
          <a:off x="0" y="0"/>
          <a:ext cx="0" cy="0"/>
          <a:chOff x="0" y="0"/>
          <a:chExt cx="0" cy="0"/>
        </a:xfrm>
      </p:grpSpPr>
      <p:sp>
        <p:nvSpPr>
          <p:cNvPr id="95" name="Google Shape;95;p75"/>
          <p:cNvSpPr txBox="1">
            <a:spLocks noGrp="1"/>
          </p:cNvSpPr>
          <p:nvPr>
            <p:ph type="title"/>
          </p:nvPr>
        </p:nvSpPr>
        <p:spPr>
          <a:xfrm>
            <a:off x="1211501" y="337515"/>
            <a:ext cx="7315200" cy="36576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2800" b="1">
                <a:solidFill>
                  <a:srgbClr val="263031"/>
                </a:solidFill>
                <a:latin typeface="Calibri" panose="020F0502020204030204"/>
                <a:ea typeface="Calibri" panose="020F0502020204030204"/>
                <a:cs typeface="Calibri" panose="020F0502020204030204"/>
                <a:sym typeface="Calibri" panose="020F0502020204030204"/>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7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cxnSp>
        <p:nvCxnSpPr>
          <p:cNvPr id="85" name="Google Shape;85;p74"/>
          <p:cNvCxnSpPr/>
          <p:nvPr/>
        </p:nvCxnSpPr>
        <p:spPr>
          <a:xfrm>
            <a:off x="0" y="6373812"/>
            <a:ext cx="12204700" cy="0"/>
          </a:xfrm>
          <a:prstGeom prst="straightConnector1">
            <a:avLst/>
          </a:prstGeom>
          <a:noFill/>
          <a:ln w="25400" cap="flat" cmpd="sng">
            <a:solidFill>
              <a:srgbClr val="FF4500"/>
            </a:solidFill>
            <a:prstDash val="solid"/>
            <a:miter lim="800000"/>
            <a:headEnd type="none" w="med" len="med"/>
            <a:tailEnd type="none" w="med" len="med"/>
          </a:ln>
        </p:spPr>
      </p:cxnSp>
      <p:sp>
        <p:nvSpPr>
          <p:cNvPr id="86" name="Google Shape;86;p74"/>
          <p:cNvSpPr txBox="1"/>
          <p:nvPr/>
        </p:nvSpPr>
        <p:spPr>
          <a:xfrm>
            <a:off x="633412" y="6408737"/>
            <a:ext cx="10936287" cy="457200"/>
          </a:xfrm>
          <a:prstGeom prst="rect">
            <a:avLst/>
          </a:prstGeom>
          <a:solidFill>
            <a:srgbClr val="FF4500"/>
          </a:solidFill>
          <a:ln>
            <a:noFill/>
          </a:ln>
        </p:spPr>
        <p:txBody>
          <a:bodyPr spcFirstLastPara="1" wrap="square" lIns="91425" tIns="45700" rIns="91425" bIns="45700" anchor="ctr" anchorCtr="0">
            <a:noAutofit/>
          </a:bodyPr>
          <a:lstStyle/>
          <a:p>
            <a:pPr marL="0" marR="0" lvl="0" indent="0" algn="ctr" rtl="0">
              <a:lnSpc>
                <a:spcPct val="70000"/>
              </a:lnSpc>
              <a:spcBef>
                <a:spcPts val="0"/>
              </a:spcBef>
              <a:spcAft>
                <a:spcPts val="0"/>
              </a:spcAft>
              <a:buClr>
                <a:schemeClr val="lt1"/>
              </a:buClr>
              <a:buSzPts val="2200"/>
              <a:buFont typeface="Calibri" panose="020F0502020204030204"/>
              <a:buNone/>
            </a:pPr>
            <a:r>
              <a:rPr lang="en-US" sz="2200" b="1" i="0" u="none" dirty="0">
                <a:solidFill>
                  <a:schemeClr val="lt1"/>
                </a:solidFill>
                <a:latin typeface="Calibri" panose="020F0502020204030204"/>
                <a:ea typeface="Calibri" panose="020F0502020204030204"/>
                <a:cs typeface="Calibri" panose="020F0502020204030204"/>
                <a:sym typeface="Calibri" panose="020F0502020204030204"/>
              </a:rPr>
              <a:t>Vel Tech High Tech Dr </a:t>
            </a:r>
            <a:r>
              <a:rPr lang="en-US" sz="2200" b="1" i="0" u="none" dirty="0" err="1">
                <a:solidFill>
                  <a:schemeClr val="lt1"/>
                </a:solidFill>
                <a:latin typeface="Calibri" panose="020F0502020204030204"/>
                <a:ea typeface="Calibri" panose="020F0502020204030204"/>
                <a:cs typeface="Calibri" panose="020F0502020204030204"/>
                <a:sym typeface="Calibri" panose="020F0502020204030204"/>
              </a:rPr>
              <a:t>Rangarajan</a:t>
            </a:r>
            <a:r>
              <a:rPr lang="en-US" sz="2200" b="1" i="0" u="none" dirty="0">
                <a:solidFill>
                  <a:schemeClr val="lt1"/>
                </a:solidFill>
                <a:latin typeface="Calibri" panose="020F0502020204030204"/>
                <a:ea typeface="Calibri" panose="020F0502020204030204"/>
                <a:cs typeface="Calibri" panose="020F0502020204030204"/>
                <a:sym typeface="Calibri" panose="020F0502020204030204"/>
              </a:rPr>
              <a:t> Dr </a:t>
            </a:r>
            <a:r>
              <a:rPr lang="en-US" sz="2200" b="1" i="0" u="none" dirty="0" err="1">
                <a:solidFill>
                  <a:schemeClr val="lt1"/>
                </a:solidFill>
                <a:latin typeface="Calibri" panose="020F0502020204030204"/>
                <a:ea typeface="Calibri" panose="020F0502020204030204"/>
                <a:cs typeface="Calibri" panose="020F0502020204030204"/>
                <a:sym typeface="Calibri" panose="020F0502020204030204"/>
              </a:rPr>
              <a:t>Sakunthala</a:t>
            </a:r>
            <a:r>
              <a:rPr lang="en-US" sz="2200" b="1" i="0" u="none" dirty="0">
                <a:solidFill>
                  <a:schemeClr val="lt1"/>
                </a:solidFill>
                <a:latin typeface="Calibri" panose="020F0502020204030204"/>
                <a:ea typeface="Calibri" panose="020F0502020204030204"/>
                <a:cs typeface="Calibri" panose="020F0502020204030204"/>
                <a:sym typeface="Calibri" panose="020F0502020204030204"/>
              </a:rPr>
              <a:t> Engineering College </a:t>
            </a:r>
            <a:r>
              <a:rPr lang="en-US" sz="1800" b="1" i="0" u="none" dirty="0">
                <a:solidFill>
                  <a:srgbClr val="FFFF00"/>
                </a:solidFill>
                <a:latin typeface="Calibri" panose="020F0502020204030204"/>
                <a:ea typeface="Calibri" panose="020F0502020204030204"/>
                <a:cs typeface="Calibri" panose="020F0502020204030204"/>
                <a:sym typeface="Calibri" panose="020F0502020204030204"/>
              </a:rPr>
              <a:t>An  Autonomous Institution</a:t>
            </a:r>
            <a:endParaRPr dirty="0"/>
          </a:p>
        </p:txBody>
      </p:sp>
      <p:sp>
        <p:nvSpPr>
          <p:cNvPr id="87" name="Google Shape;87;p74"/>
          <p:cNvSpPr txBox="1"/>
          <p:nvPr/>
        </p:nvSpPr>
        <p:spPr>
          <a:xfrm>
            <a:off x="11569700" y="6408737"/>
            <a:ext cx="633412" cy="457200"/>
          </a:xfrm>
          <a:prstGeom prst="rect">
            <a:avLst/>
          </a:prstGeom>
          <a:solidFill>
            <a:srgbClr val="0000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Quattrocento Sans" panose="020B0502050000020003"/>
              <a:buNone/>
            </a:pPr>
            <a:fld id="{00000000-1234-1234-1234-123412341234}" type="slidenum">
              <a:rPr lang="en-US" sz="1600" b="1" i="0" u="none">
                <a:solidFill>
                  <a:schemeClr val="lt1"/>
                </a:solidFill>
                <a:latin typeface="Quattrocento Sans" panose="020B0502050000020003"/>
                <a:ea typeface="Quattrocento Sans" panose="020B0502050000020003"/>
                <a:cs typeface="Quattrocento Sans" panose="020B0502050000020003"/>
                <a:sym typeface="Quattrocento Sans" panose="020B0502050000020003"/>
              </a:rPr>
              <a:t>‹#›</a:t>
            </a:fld>
            <a:endParaRPr lang="en-US" sz="1600" b="1" i="0" u="none">
              <a:solidFill>
                <a:schemeClr val="lt1"/>
              </a:solidFill>
              <a:latin typeface="Quattrocento Sans" panose="020B0502050000020003"/>
              <a:ea typeface="Quattrocento Sans" panose="020B0502050000020003"/>
              <a:cs typeface="Quattrocento Sans" panose="020B0502050000020003"/>
              <a:sym typeface="Quattrocento Sans" panose="020B0502050000020003"/>
            </a:endParaRPr>
          </a:p>
        </p:txBody>
      </p:sp>
      <p:sp>
        <p:nvSpPr>
          <p:cNvPr id="88" name="Google Shape;88;p74"/>
          <p:cNvSpPr/>
          <p:nvPr/>
        </p:nvSpPr>
        <p:spPr>
          <a:xfrm>
            <a:off x="0" y="153987"/>
            <a:ext cx="1116012" cy="731837"/>
          </a:xfrm>
          <a:custGeom>
            <a:avLst/>
            <a:gdLst/>
            <a:ahLst/>
            <a:cxnLst/>
            <a:rect l="l" t="t" r="r" b="b"/>
            <a:pathLst>
              <a:path w="1821243" h="902541" extrusionOk="0">
                <a:moveTo>
                  <a:pt x="0" y="0"/>
                </a:moveTo>
                <a:lnTo>
                  <a:pt x="1369972" y="0"/>
                </a:lnTo>
                <a:cubicBezTo>
                  <a:pt x="1619203" y="0"/>
                  <a:pt x="1821243" y="202040"/>
                  <a:pt x="1821243" y="451271"/>
                </a:cubicBezTo>
                <a:lnTo>
                  <a:pt x="1821243" y="451271"/>
                </a:lnTo>
                <a:cubicBezTo>
                  <a:pt x="1821243" y="700501"/>
                  <a:pt x="1619202" y="902541"/>
                  <a:pt x="1369972" y="902541"/>
                </a:cubicBezTo>
                <a:lnTo>
                  <a:pt x="0" y="902541"/>
                </a:lnTo>
                <a:close/>
              </a:path>
            </a:pathLst>
          </a:custGeom>
          <a:solidFill>
            <a:srgbClr val="FF4500"/>
          </a:solidFill>
          <a:ln>
            <a:noFill/>
          </a:ln>
          <a:effectLst>
            <a:outerShdw blurRad="63500" dist="63499" dir="2700000">
              <a:srgbClr val="000000">
                <a:alpha val="3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9" name="Google Shape;89;p74"/>
          <p:cNvSpPr txBox="1"/>
          <p:nvPr/>
        </p:nvSpPr>
        <p:spPr>
          <a:xfrm>
            <a:off x="0" y="153987"/>
            <a:ext cx="287337" cy="731837"/>
          </a:xfrm>
          <a:prstGeom prst="rect">
            <a:avLst/>
          </a:prstGeom>
          <a:solidFill>
            <a:srgbClr val="0000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0" name="Google Shape;90;p74"/>
          <p:cNvPicPr preferRelativeResize="0"/>
          <p:nvPr/>
        </p:nvPicPr>
        <p:blipFill rotWithShape="1">
          <a:blip r:embed="rId3"/>
          <a:srcRect/>
          <a:stretch>
            <a:fillRect/>
          </a:stretch>
        </p:blipFill>
        <p:spPr>
          <a:xfrm>
            <a:off x="381000" y="200025"/>
            <a:ext cx="641350" cy="639762"/>
          </a:xfrm>
          <a:prstGeom prst="rect">
            <a:avLst/>
          </a:prstGeom>
          <a:noFill/>
          <a:ln>
            <a:noFill/>
          </a:ln>
        </p:spPr>
      </p:pic>
      <p:sp>
        <p:nvSpPr>
          <p:cNvPr id="91" name="Google Shape;91;p74"/>
          <p:cNvSpPr txBox="1"/>
          <p:nvPr/>
        </p:nvSpPr>
        <p:spPr>
          <a:xfrm>
            <a:off x="0" y="6400800"/>
            <a:ext cx="633412" cy="471487"/>
          </a:xfrm>
          <a:prstGeom prst="rect">
            <a:avLst/>
          </a:prstGeom>
          <a:solidFill>
            <a:srgbClr val="000080"/>
          </a:solidFill>
          <a:ln>
            <a:noFill/>
          </a:ln>
        </p:spPr>
        <p:txBody>
          <a:bodyPr spcFirstLastPara="1" wrap="square" lIns="91425" tIns="45700" rIns="91425" bIns="45700" anchor="t" anchorCtr="0">
            <a:spAutoFit/>
          </a:bodyPr>
          <a:lstStyle/>
          <a:p>
            <a:pPr marL="0" marR="0" lvl="0" indent="0" algn="ctr" rtl="0">
              <a:lnSpc>
                <a:spcPct val="70000"/>
              </a:lnSpc>
              <a:spcBef>
                <a:spcPts val="0"/>
              </a:spcBef>
              <a:spcAft>
                <a:spcPts val="0"/>
              </a:spcAft>
              <a:buClr>
                <a:schemeClr val="dk1"/>
              </a:buClr>
              <a:buSzPts val="1600"/>
              <a:buFont typeface="Calibri" panose="020F0502020204030204"/>
              <a:buNone/>
            </a:pPr>
            <a:endParaRPr sz="1600" b="1" i="0" u="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None/>
            </a:pPr>
            <a:endParaRPr sz="1600" b="1" i="0" u="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2" name="Google Shape;92;p7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dirty="0"/>
          </a:p>
        </p:txBody>
      </p:sp>
      <p:sp>
        <p:nvSpPr>
          <p:cNvPr id="93" name="Google Shape;93;p7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dirty="0"/>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2.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Google Shape;116;p1"/>
          <p:cNvPicPr preferRelativeResize="0"/>
          <p:nvPr/>
        </p:nvPicPr>
        <p:blipFill rotWithShape="1">
          <a:blip r:embed="rId3"/>
          <a:srcRect l="30107" r="5080"/>
          <a:stretch>
            <a:fillRect/>
          </a:stretch>
        </p:blipFill>
        <p:spPr>
          <a:xfrm>
            <a:off x="0" y="0"/>
            <a:ext cx="12153900" cy="6847840"/>
          </a:xfrm>
          <a:prstGeom prst="rect">
            <a:avLst/>
          </a:prstGeom>
          <a:noFill/>
          <a:ln w="9525" cap="flat" cmpd="sng">
            <a:solidFill>
              <a:srgbClr val="92AAEA"/>
            </a:solidFill>
            <a:prstDash val="solid"/>
            <a:miter lim="800000"/>
            <a:headEnd type="none" w="sm" len="sm"/>
            <a:tailEnd type="none" w="sm" len="sm"/>
          </a:ln>
        </p:spPr>
      </p:pic>
      <p:pic>
        <p:nvPicPr>
          <p:cNvPr id="3" name="Google Shape;117;p1" descr="C:\Users\EXAM CELL\Downloads\High-Tech (3).png"/>
          <p:cNvPicPr preferRelativeResize="0"/>
          <p:nvPr/>
        </p:nvPicPr>
        <p:blipFill rotWithShape="1">
          <a:blip r:embed="rId4"/>
          <a:srcRect t="27778" b="30554"/>
          <a:stretch>
            <a:fillRect/>
          </a:stretch>
        </p:blipFill>
        <p:spPr>
          <a:xfrm>
            <a:off x="2778125" y="9525"/>
            <a:ext cx="6839585" cy="1048385"/>
          </a:xfrm>
          <a:prstGeom prst="rect">
            <a:avLst/>
          </a:prstGeom>
          <a:noFill/>
          <a:ln>
            <a:noFill/>
          </a:ln>
        </p:spPr>
      </p:pic>
      <p:sp>
        <p:nvSpPr>
          <p:cNvPr id="6" name="Google Shape;118;p1"/>
          <p:cNvSpPr txBox="1"/>
          <p:nvPr/>
        </p:nvSpPr>
        <p:spPr>
          <a:xfrm>
            <a:off x="430530" y="6380480"/>
            <a:ext cx="2574925" cy="4775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00000"/>
              </a:lnSpc>
              <a:spcBef>
                <a:spcPts val="0"/>
              </a:spcBef>
              <a:spcAft>
                <a:spcPts val="0"/>
              </a:spcAft>
              <a:buClr>
                <a:srgbClr val="FFFF00"/>
              </a:buClr>
              <a:buSzPts val="2000"/>
              <a:buFont typeface="Century Gothic" panose="020B0502020202020204"/>
              <a:buNone/>
            </a:pPr>
            <a:r>
              <a:rPr lang="en-US" sz="2000" b="1" i="0" u="none" strike="noStrike" cap="none" dirty="0">
                <a:solidFill>
                  <a:srgbClr val="FFFF00"/>
                </a:solidFill>
                <a:latin typeface="Century Gothic" panose="020B0502020202020204"/>
                <a:ea typeface="Century Gothic" panose="020B0502020202020204"/>
                <a:cs typeface="Century Gothic" panose="020B0502020202020204"/>
                <a:sym typeface="Century Gothic" panose="020B0502020202020204"/>
              </a:rPr>
              <a:t>Date: </a:t>
            </a:r>
            <a:r>
              <a:rPr lang="en-IN" sz="2000" b="1" dirty="0">
                <a:solidFill>
                  <a:srgbClr val="FFFF00"/>
                </a:solidFill>
                <a:latin typeface="Century Gothic" panose="020B0502020202020204"/>
                <a:ea typeface="Century Gothic" panose="020B0502020202020204"/>
                <a:cs typeface="Century Gothic" panose="020B0502020202020204"/>
                <a:sym typeface="Century Gothic" panose="020B0502020202020204"/>
              </a:rPr>
              <a:t>13</a:t>
            </a:r>
            <a:r>
              <a:rPr lang="en-IN" altLang="en-US" sz="2000" b="1" i="0" u="none" strike="noStrike" cap="none" dirty="0">
                <a:solidFill>
                  <a:srgbClr val="FFFF00"/>
                </a:solidFill>
                <a:latin typeface="Century Gothic" panose="020B0502020202020204"/>
                <a:ea typeface="Century Gothic" panose="020B0502020202020204"/>
                <a:cs typeface="Century Gothic" panose="020B0502020202020204"/>
                <a:sym typeface="Century Gothic" panose="020B0502020202020204"/>
              </a:rPr>
              <a:t>/11/2025</a:t>
            </a:r>
            <a:endParaRPr dirty="0"/>
          </a:p>
        </p:txBody>
      </p:sp>
      <p:pic>
        <p:nvPicPr>
          <p:cNvPr id="7" name="Google Shape;119;p1" descr="C:\Users\EXAM CELL\Downloads\Veltech_-Round-Logo-Final (3).png"/>
          <p:cNvPicPr preferRelativeResize="0"/>
          <p:nvPr/>
        </p:nvPicPr>
        <p:blipFill rotWithShape="1">
          <a:blip r:embed="rId5"/>
          <a:srcRect/>
          <a:stretch>
            <a:fillRect/>
          </a:stretch>
        </p:blipFill>
        <p:spPr>
          <a:xfrm>
            <a:off x="11054715" y="-16510"/>
            <a:ext cx="1005205" cy="949960"/>
          </a:xfrm>
          <a:prstGeom prst="rect">
            <a:avLst/>
          </a:prstGeom>
          <a:noFill/>
          <a:ln>
            <a:noFill/>
          </a:ln>
        </p:spPr>
      </p:pic>
      <p:sp>
        <p:nvSpPr>
          <p:cNvPr id="9" name="Google Shape;123;p1"/>
          <p:cNvSpPr txBox="1"/>
          <p:nvPr/>
        </p:nvSpPr>
        <p:spPr>
          <a:xfrm>
            <a:off x="2468245" y="956945"/>
            <a:ext cx="7446010" cy="27368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00000"/>
              </a:lnSpc>
              <a:spcBef>
                <a:spcPts val="0"/>
              </a:spcBef>
              <a:spcAft>
                <a:spcPts val="0"/>
              </a:spcAft>
              <a:buClr>
                <a:srgbClr val="0070C0"/>
              </a:buClr>
              <a:buSzPts val="2000"/>
              <a:buFont typeface="Calibri" panose="020F0502020204030204"/>
              <a:buNone/>
            </a:pPr>
            <a:r>
              <a:rPr lang="en-US" sz="2000" b="1" i="0" u="none">
                <a:solidFill>
                  <a:srgbClr val="0070C0"/>
                </a:solidFill>
                <a:latin typeface="Calibri" panose="020F0502020204030204"/>
                <a:ea typeface="Calibri" panose="020F0502020204030204"/>
                <a:cs typeface="Calibri" panose="020F0502020204030204"/>
                <a:sym typeface="Calibri" panose="020F0502020204030204"/>
              </a:rPr>
              <a:t>An Autonomous Institution</a:t>
            </a:r>
          </a:p>
        </p:txBody>
      </p:sp>
      <p:sp>
        <p:nvSpPr>
          <p:cNvPr id="10" name="Google Shape;124;p1"/>
          <p:cNvSpPr txBox="1"/>
          <p:nvPr/>
        </p:nvSpPr>
        <p:spPr>
          <a:xfrm>
            <a:off x="611505" y="4221480"/>
            <a:ext cx="387350" cy="136525"/>
          </a:xfrm>
          <a:prstGeom prst="rect">
            <a:avLst/>
          </a:prstGeom>
          <a:noFill/>
          <a:ln>
            <a:noFill/>
          </a:ln>
        </p:spPr>
        <p:txBody>
          <a:bodyPr spcFirstLastPara="1" wrap="square" lIns="0" tIns="1205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15570" marR="0" lvl="0" indent="-102870" algn="ctr" rtl="0">
              <a:lnSpc>
                <a:spcPct val="100000"/>
              </a:lnSpc>
              <a:spcBef>
                <a:spcPts val="0"/>
              </a:spcBef>
              <a:spcAft>
                <a:spcPts val="0"/>
              </a:spcAft>
              <a:buClr>
                <a:schemeClr val="dk1"/>
              </a:buClr>
              <a:buSzPts val="400"/>
              <a:buFont typeface="Arial" panose="020B0604020202020204"/>
              <a:buNone/>
            </a:pPr>
            <a:r>
              <a:rPr lang="en-US" sz="400" b="0" i="0" u="none">
                <a:solidFill>
                  <a:schemeClr val="dk1"/>
                </a:solidFill>
                <a:latin typeface="Arial" panose="020B0604020202020204"/>
                <a:ea typeface="Arial" panose="020B0604020202020204"/>
                <a:cs typeface="Arial" panose="020B0604020202020204"/>
                <a:sym typeface="Arial" panose="020B0604020202020204"/>
              </a:rPr>
              <a:t>Biotech,</a:t>
            </a:r>
          </a:p>
          <a:p>
            <a:pPr marL="115570" marR="0" lvl="0" indent="-102870" algn="ctr" rtl="0">
              <a:lnSpc>
                <a:spcPct val="100000"/>
              </a:lnSpc>
              <a:spcBef>
                <a:spcPts val="100"/>
              </a:spcBef>
              <a:spcAft>
                <a:spcPts val="0"/>
              </a:spcAft>
              <a:buClr>
                <a:schemeClr val="dk1"/>
              </a:buClr>
              <a:buSzPts val="400"/>
              <a:buFont typeface="Arial" panose="020B0604020202020204"/>
              <a:buNone/>
            </a:pPr>
            <a:r>
              <a:rPr lang="en-US" sz="400" b="0" i="0" u="none">
                <a:solidFill>
                  <a:schemeClr val="dk1"/>
                </a:solidFill>
                <a:latin typeface="Arial" panose="020B0604020202020204"/>
                <a:ea typeface="Arial" panose="020B0604020202020204"/>
                <a:cs typeface="Arial" panose="020B0604020202020204"/>
                <a:sym typeface="Arial" panose="020B0604020202020204"/>
              </a:rPr>
              <a:t> Chemical,ECE &amp;IT</a:t>
            </a:r>
          </a:p>
        </p:txBody>
      </p:sp>
      <p:sp>
        <p:nvSpPr>
          <p:cNvPr id="11" name="Google Shape;125;p1"/>
          <p:cNvSpPr txBox="1"/>
          <p:nvPr/>
        </p:nvSpPr>
        <p:spPr>
          <a:xfrm>
            <a:off x="2600325" y="2590165"/>
            <a:ext cx="8023225" cy="478790"/>
          </a:xfrm>
          <a:prstGeom prst="rect">
            <a:avLst/>
          </a:prstGeom>
          <a:gradFill>
            <a:gsLst>
              <a:gs pos="0">
                <a:srgbClr val="FFDC9B"/>
              </a:gs>
              <a:gs pos="50000">
                <a:srgbClr val="FFD68D"/>
              </a:gs>
              <a:gs pos="100000">
                <a:srgbClr val="FFD478"/>
              </a:gs>
            </a:gsLst>
            <a:lin ang="5400000" scaled="0"/>
          </a:gradFill>
          <a:ln w="76200" cap="flat" cmpd="sng">
            <a:solidFill>
              <a:srgbClr val="00B050"/>
            </a:solidFill>
            <a:prstDash val="solid"/>
            <a:miter lim="800000"/>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00000"/>
              </a:lnSpc>
              <a:spcBef>
                <a:spcPts val="0"/>
              </a:spcBef>
              <a:spcAft>
                <a:spcPts val="0"/>
              </a:spcAft>
              <a:buClr>
                <a:srgbClr val="FF0000"/>
              </a:buClr>
              <a:buSzPts val="4000"/>
              <a:buFont typeface="Calibri" panose="020F0502020204030204"/>
              <a:buNone/>
            </a:pPr>
            <a:r>
              <a:rPr lang="en-US" sz="2800" b="1" dirty="0">
                <a:solidFill>
                  <a:srgbClr val="FF0000"/>
                </a:solidFill>
                <a:latin typeface="Calibri" panose="020F0502020204030204"/>
                <a:ea typeface="Calibri" panose="020F0502020204030204"/>
                <a:cs typeface="Calibri" panose="020F0502020204030204"/>
                <a:sym typeface="Calibri" panose="020F0502020204030204"/>
              </a:rPr>
              <a:t>21EE05P - </a:t>
            </a:r>
            <a:r>
              <a:rPr lang="en-US" sz="2800" b="1">
                <a:solidFill>
                  <a:srgbClr val="FF0000"/>
                </a:solidFill>
                <a:latin typeface="Calibri" panose="020F0502020204030204"/>
                <a:ea typeface="Calibri" panose="020F0502020204030204"/>
                <a:cs typeface="Calibri" panose="020F0502020204030204"/>
                <a:sym typeface="Calibri" panose="020F0502020204030204"/>
              </a:rPr>
              <a:t>PROJECT  REVIEW  </a:t>
            </a:r>
            <a:endParaRPr sz="2800" dirty="0"/>
          </a:p>
        </p:txBody>
      </p:sp>
      <p:pic>
        <p:nvPicPr>
          <p:cNvPr id="12" name="Google Shape;126;p1"/>
          <p:cNvPicPr preferRelativeResize="0"/>
          <p:nvPr/>
        </p:nvPicPr>
        <p:blipFill rotWithShape="1">
          <a:blip r:embed="rId6"/>
          <a:srcRect/>
          <a:stretch>
            <a:fillRect/>
          </a:stretch>
        </p:blipFill>
        <p:spPr>
          <a:xfrm>
            <a:off x="430530" y="2227580"/>
            <a:ext cx="1068070" cy="1008380"/>
          </a:xfrm>
          <a:prstGeom prst="ellipse">
            <a:avLst/>
          </a:prstGeom>
          <a:noFill/>
          <a:ln w="63500" cap="rnd" cmpd="sng">
            <a:solidFill>
              <a:srgbClr val="C00000"/>
            </a:solidFill>
            <a:prstDash val="solid"/>
            <a:round/>
            <a:headEnd type="none" w="sm" len="sm"/>
            <a:tailEnd type="none" w="sm" len="sm"/>
          </a:ln>
          <a:effectLst>
            <a:outerShdw blurRad="381000" dist="292100" dir="5400000" sx="-80000" sy="-18000" rotWithShape="0">
              <a:srgbClr val="000000">
                <a:alpha val="21960"/>
              </a:srgbClr>
            </a:outerShdw>
          </a:effectLst>
        </p:spPr>
      </p:pic>
      <p:pic>
        <p:nvPicPr>
          <p:cNvPr id="13" name="Google Shape;127;p1"/>
          <p:cNvPicPr preferRelativeResize="0"/>
          <p:nvPr/>
        </p:nvPicPr>
        <p:blipFill rotWithShape="1">
          <a:blip r:embed="rId7"/>
          <a:srcRect/>
          <a:stretch>
            <a:fillRect/>
          </a:stretch>
        </p:blipFill>
        <p:spPr>
          <a:xfrm>
            <a:off x="458470" y="3691890"/>
            <a:ext cx="1068070" cy="1008380"/>
          </a:xfrm>
          <a:prstGeom prst="ellipse">
            <a:avLst/>
          </a:prstGeom>
          <a:noFill/>
          <a:ln w="63500" cap="rnd" cmpd="sng">
            <a:solidFill>
              <a:srgbClr val="0070C0"/>
            </a:solidFill>
            <a:prstDash val="solid"/>
            <a:round/>
            <a:headEnd type="none" w="sm" len="sm"/>
            <a:tailEnd type="none" w="sm" len="sm"/>
          </a:ln>
          <a:effectLst>
            <a:outerShdw blurRad="381000" dist="292100" dir="5400000" sx="-80000" sy="-18000" rotWithShape="0">
              <a:srgbClr val="000000">
                <a:alpha val="21960"/>
              </a:srgbClr>
            </a:outerShdw>
          </a:effectLst>
        </p:spPr>
      </p:pic>
      <p:pic>
        <p:nvPicPr>
          <p:cNvPr id="14" name="Google Shape;128;p1"/>
          <p:cNvPicPr preferRelativeResize="0"/>
          <p:nvPr/>
        </p:nvPicPr>
        <p:blipFill rotWithShape="1">
          <a:blip r:embed="rId8"/>
          <a:srcRect/>
          <a:stretch>
            <a:fillRect/>
          </a:stretch>
        </p:blipFill>
        <p:spPr>
          <a:xfrm>
            <a:off x="161290" y="5047615"/>
            <a:ext cx="1716405" cy="456565"/>
          </a:xfrm>
          <a:prstGeom prst="roundRect">
            <a:avLst>
              <a:gd name="adj" fmla="val 4167"/>
            </a:avLst>
          </a:prstGeom>
          <a:solidFill>
            <a:srgbClr val="FFFFFF"/>
          </a:solidFill>
          <a:ln w="76200" cap="sq" cmpd="sng">
            <a:solidFill>
              <a:srgbClr val="002060"/>
            </a:solidFill>
            <a:prstDash val="solid"/>
            <a:miter lim="800000"/>
            <a:headEnd type="none" w="sm" len="sm"/>
            <a:tailEnd type="none" w="sm" len="sm"/>
          </a:ln>
          <a:effectLst>
            <a:reflection stA="28000" endPos="28000" dist="5000" dir="5400000" sy="-100000" algn="bl" rotWithShape="0"/>
          </a:effectLst>
        </p:spPr>
      </p:pic>
      <p:pic>
        <p:nvPicPr>
          <p:cNvPr id="15" name="Google Shape;129;p1"/>
          <p:cNvPicPr preferRelativeResize="0"/>
          <p:nvPr/>
        </p:nvPicPr>
        <p:blipFill rotWithShape="1">
          <a:blip r:embed="rId9"/>
          <a:srcRect/>
          <a:stretch>
            <a:fillRect/>
          </a:stretch>
        </p:blipFill>
        <p:spPr>
          <a:xfrm>
            <a:off x="49530" y="5539105"/>
            <a:ext cx="1926590" cy="392430"/>
          </a:xfrm>
          <a:prstGeom prst="rect">
            <a:avLst/>
          </a:prstGeom>
          <a:noFill/>
          <a:ln>
            <a:noFill/>
          </a:ln>
          <a:effectLst>
            <a:outerShdw blurRad="44450" dist="27940" dir="5400000" algn="ctr">
              <a:srgbClr val="000000">
                <a:alpha val="31764"/>
              </a:srgbClr>
            </a:outerShdw>
          </a:effectLst>
        </p:spPr>
      </p:pic>
      <p:sp>
        <p:nvSpPr>
          <p:cNvPr id="17" name="Google Shape;130;p1"/>
          <p:cNvSpPr/>
          <p:nvPr/>
        </p:nvSpPr>
        <p:spPr>
          <a:xfrm>
            <a:off x="3578860" y="1480185"/>
            <a:ext cx="6214745" cy="408305"/>
          </a:xfrm>
          <a:prstGeom prst="rect">
            <a:avLst/>
          </a:prstGeom>
          <a:gradFill>
            <a:gsLst>
              <a:gs pos="0">
                <a:srgbClr val="FFC647"/>
              </a:gs>
              <a:gs pos="50000">
                <a:srgbClr val="FFC600"/>
              </a:gs>
              <a:gs pos="100000">
                <a:srgbClr val="E3B400"/>
              </a:gs>
            </a:gsLst>
            <a:lin ang="5400000" scaled="0"/>
          </a:gradFill>
          <a:ln w="9525" cap="sq" cmpd="sng">
            <a:solidFill>
              <a:srgbClr val="92D050"/>
            </a:solidFill>
            <a:prstDash val="solid"/>
            <a:bevel/>
            <a:headEnd type="none" w="sm" len="sm"/>
            <a:tailEnd type="none" w="sm" len="sm"/>
          </a:ln>
          <a:effectLst>
            <a:outerShdw blurRad="50800" dist="38100" dir="2700000" algn="tl" rotWithShape="0">
              <a:srgbClr val="00B050">
                <a:alpha val="40000"/>
              </a:srgbClr>
            </a:outerShd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eaLnBrk="1" hangingPunct="1">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sym typeface="+mn-ea"/>
              </a:rPr>
              <a:t>   Department of</a:t>
            </a:r>
            <a:r>
              <a:rPr lang="en-IN" altLang="en-US" sz="2000" dirty="0">
                <a:solidFill>
                  <a:schemeClr val="accent1">
                    <a:lumMod val="75000"/>
                  </a:schemeClr>
                </a:solidFill>
                <a:latin typeface="Times New Roman" panose="02020603050405020304" pitchFamily="18" charset="0"/>
                <a:cs typeface="Times New Roman" panose="02020603050405020304" pitchFamily="18" charset="0"/>
                <a:sym typeface="+mn-ea"/>
              </a:rPr>
              <a:t> </a:t>
            </a:r>
            <a:r>
              <a:rPr lang="en-IN" altLang="en-US" sz="2000" dirty="0">
                <a:latin typeface="Times New Roman" panose="02020603050405020304" pitchFamily="18" charset="0"/>
                <a:cs typeface="Times New Roman" panose="02020603050405020304" pitchFamily="18" charset="0"/>
                <a:sym typeface="+mn-ea"/>
              </a:rPr>
              <a:t>Computer Science And Engineering</a:t>
            </a:r>
            <a:r>
              <a:rPr lang="en-IN" altLang="en-US" sz="2000" dirty="0">
                <a:solidFill>
                  <a:schemeClr val="accent1">
                    <a:lumMod val="75000"/>
                  </a:schemeClr>
                </a:solidFill>
                <a:latin typeface="Times New Roman" panose="02020603050405020304" pitchFamily="18" charset="0"/>
                <a:cs typeface="Times New Roman" panose="02020603050405020304" pitchFamily="18" charset="0"/>
                <a:sym typeface="+mn-ea"/>
              </a:rPr>
              <a:t> </a:t>
            </a:r>
            <a:endParaRPr lang="en-IN"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sp>
        <p:nvSpPr>
          <p:cNvPr id="18" name="Google Shape;131;p1"/>
          <p:cNvSpPr txBox="1"/>
          <p:nvPr/>
        </p:nvSpPr>
        <p:spPr>
          <a:xfrm>
            <a:off x="2471420" y="3340100"/>
            <a:ext cx="8147685" cy="676275"/>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100000"/>
              </a:lnSpc>
              <a:spcBef>
                <a:spcPts val="0"/>
              </a:spcBef>
              <a:spcAft>
                <a:spcPts val="0"/>
              </a:spcAft>
              <a:buClr>
                <a:srgbClr val="C00000"/>
              </a:buClr>
              <a:buSzPts val="2400"/>
              <a:buFont typeface="Overlock" panose="02000506030000020004"/>
              <a:buNone/>
            </a:pPr>
            <a:r>
              <a:rPr lang="en-US" altLang="en-US" sz="2100" b="1" dirty="0">
                <a:solidFill>
                  <a:schemeClr val="accent1">
                    <a:lumMod val="50000"/>
                  </a:schemeClr>
                </a:solidFill>
                <a:latin typeface="Arial Rounded MT Bold" panose="020F0704030504030204" pitchFamily="34" charset="0"/>
              </a:rPr>
              <a:t>TINY TRAIL: A </a:t>
            </a:r>
            <a:r>
              <a:rPr lang="en-IN" altLang="en-US" sz="2100" b="1" dirty="0">
                <a:solidFill>
                  <a:schemeClr val="accent1">
                    <a:lumMod val="50000"/>
                  </a:schemeClr>
                </a:solidFill>
                <a:latin typeface="Arial Rounded MT Bold" panose="020F0704030504030204" pitchFamily="34" charset="0"/>
              </a:rPr>
              <a:t> DIGITAL </a:t>
            </a:r>
            <a:r>
              <a:rPr lang="en-US" altLang="en-US" sz="2100" b="1" dirty="0">
                <a:solidFill>
                  <a:schemeClr val="accent1">
                    <a:lumMod val="50000"/>
                  </a:schemeClr>
                </a:solidFill>
                <a:latin typeface="Arial Rounded MT Bold" panose="020F0704030504030204" pitchFamily="34" charset="0"/>
              </a:rPr>
              <a:t>MARKETPLACE </a:t>
            </a:r>
            <a:r>
              <a:rPr lang="en-IN" altLang="en-US" sz="2100" b="1" dirty="0">
                <a:solidFill>
                  <a:schemeClr val="accent1">
                    <a:lumMod val="50000"/>
                  </a:schemeClr>
                </a:solidFill>
                <a:latin typeface="Arial Rounded MT Bold" panose="020F0704030504030204" pitchFamily="34" charset="0"/>
              </a:rPr>
              <a:t>- FROM HOME TO YOUR HANDS</a:t>
            </a:r>
          </a:p>
        </p:txBody>
      </p:sp>
      <p:sp>
        <p:nvSpPr>
          <p:cNvPr id="19" name="Rectangle 15"/>
          <p:cNvSpPr/>
          <p:nvPr/>
        </p:nvSpPr>
        <p:spPr>
          <a:xfrm>
            <a:off x="6167755" y="4509135"/>
            <a:ext cx="6569710" cy="953770"/>
          </a:xfrm>
          <a:prstGeom prst="rect">
            <a:avLst/>
          </a:prstGeom>
        </p:spPr>
        <p:txBody>
          <a:bodyPr wrap="square">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lnSpc>
                <a:spcPct val="150000"/>
              </a:lnSpc>
            </a:pPr>
            <a:r>
              <a:rPr lang="en-IN" b="1" dirty="0">
                <a:solidFill>
                  <a:srgbClr val="0D0D0D"/>
                </a:solidFill>
                <a:latin typeface="Times New Roman" panose="02020603050405020304" pitchFamily="18" charset="0"/>
                <a:cs typeface="Segoe UI" panose="020B0502040204020203" pitchFamily="34" charset="0"/>
              </a:rPr>
              <a:t>VH12436     </a:t>
            </a:r>
            <a:r>
              <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THISO VALLABADASS</a:t>
            </a:r>
            <a:r>
              <a:rPr lang="en-IN" b="1" dirty="0">
                <a:solidFill>
                  <a:srgbClr val="0D0D0D"/>
                </a:solidFill>
                <a:latin typeface="Times New Roman" panose="02020603050405020304" pitchFamily="18" charset="0"/>
                <a:cs typeface="Segoe UI" panose="020B0502040204020203" pitchFamily="34" charset="0"/>
              </a:rPr>
              <a:t>  -    113022104160       -     VII Sem</a:t>
            </a:r>
            <a:endParaRPr lang="en-US" b="1" dirty="0">
              <a:solidFill>
                <a:srgbClr val="0D0D0D"/>
              </a:solidFill>
              <a:latin typeface="Times New Roman" panose="02020603050405020304" pitchFamily="18" charset="0"/>
              <a:cs typeface="Segoe UI" panose="020B0502040204020203" pitchFamily="34" charset="0"/>
            </a:endParaRPr>
          </a:p>
          <a:p>
            <a:pPr algn="just">
              <a:lnSpc>
                <a:spcPct val="150000"/>
              </a:lnSpc>
            </a:pPr>
            <a:r>
              <a:rPr lang="en-IN" b="1" dirty="0">
                <a:solidFill>
                  <a:srgbClr val="0D0D0D"/>
                </a:solidFill>
                <a:latin typeface="Times New Roman" panose="02020603050405020304" pitchFamily="18" charset="0"/>
                <a:cs typeface="Segoe UI" panose="020B0502040204020203" pitchFamily="34" charset="0"/>
              </a:rPr>
              <a:t>VH12437 </a:t>
            </a:r>
            <a:r>
              <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IN" alt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THIRU MURUGAN </a:t>
            </a:r>
            <a:r>
              <a:rPr lang="en-IN" altLang="en-US"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R</a:t>
            </a:r>
            <a:r>
              <a:rPr lang="en-IN" b="1" dirty="0">
                <a:solidFill>
                  <a:srgbClr val="0D0D0D"/>
                </a:solidFill>
                <a:latin typeface="Times New Roman" panose="02020603050405020304" pitchFamily="18" charset="0"/>
                <a:cs typeface="Segoe UI" panose="020B0502040204020203" pitchFamily="34" charset="0"/>
              </a:rPr>
              <a:t>     -    113022104161</a:t>
            </a:r>
            <a:r>
              <a:rPr lang="en-US" dirty="0">
                <a:latin typeface="Times New Roman" panose="02020603050405020304" pitchFamily="18" charset="0"/>
                <a:cs typeface="Segoe UI" panose="020B0502040204020203" pitchFamily="34" charset="0"/>
              </a:rPr>
              <a:t>       -     </a:t>
            </a:r>
            <a:r>
              <a:rPr lang="en-US" b="1" dirty="0">
                <a:latin typeface="Times New Roman" panose="02020603050405020304" pitchFamily="18" charset="0"/>
                <a:cs typeface="Segoe UI" panose="020B0502040204020203" pitchFamily="34" charset="0"/>
              </a:rPr>
              <a:t>VII Sem</a:t>
            </a:r>
          </a:p>
          <a:p>
            <a:pPr algn="just">
              <a:lnSpc>
                <a:spcPct val="150000"/>
              </a:lnSpc>
            </a:pPr>
            <a:r>
              <a:rPr lang="en-IN" b="1" dirty="0">
                <a:latin typeface="Times New Roman" panose="02020603050405020304" pitchFamily="18" charset="0"/>
                <a:cs typeface="Segoe UI" panose="020B0502040204020203" pitchFamily="34" charset="0"/>
              </a:rPr>
              <a:t>VH12404     SABARINATHAN S          -    113022104127       -     VII Sem</a:t>
            </a:r>
          </a:p>
        </p:txBody>
      </p:sp>
      <p:sp>
        <p:nvSpPr>
          <p:cNvPr id="20" name="Text Box 19"/>
          <p:cNvSpPr txBox="1"/>
          <p:nvPr/>
        </p:nvSpPr>
        <p:spPr>
          <a:xfrm>
            <a:off x="5519420" y="5719445"/>
            <a:ext cx="3698875" cy="1235710"/>
          </a:xfrm>
          <a:prstGeom prst="rect">
            <a:avLst/>
          </a:prstGeom>
          <a:noFill/>
        </p:spPr>
        <p:txBody>
          <a:bodyPr wrap="square" rtlCol="0">
            <a:noAutofit/>
          </a:bodyPr>
          <a:lstStyle/>
          <a:p>
            <a:pPr marL="0" marR="0" lvl="0" indent="0" algn="ctr" rtl="0">
              <a:lnSpc>
                <a:spcPct val="150000"/>
              </a:lnSpc>
              <a:spcBef>
                <a:spcPts val="0"/>
              </a:spcBef>
              <a:spcAft>
                <a:spcPts val="0"/>
              </a:spcAft>
              <a:buClr>
                <a:schemeClr val="dk1"/>
              </a:buClr>
              <a:buSzPts val="2400"/>
              <a:buFont typeface="Times New Roman" panose="02020603050405020304"/>
              <a:buNone/>
            </a:pPr>
            <a:r>
              <a:rPr lang="en-IN" sz="1400" b="1" dirty="0">
                <a:latin typeface="Times New Roman" panose="02020603050405020304" pitchFamily="18" charset="0"/>
                <a:cs typeface="Times New Roman" panose="02020603050405020304" pitchFamily="18" charset="0"/>
                <a:sym typeface="+mn-ea"/>
              </a:rPr>
              <a:t>SUPERVISOR </a:t>
            </a:r>
          </a:p>
          <a:p>
            <a:pPr marL="0" marR="0" lvl="0" indent="0" algn="ctr" rtl="0">
              <a:lnSpc>
                <a:spcPct val="150000"/>
              </a:lnSpc>
              <a:spcBef>
                <a:spcPts val="0"/>
              </a:spcBef>
              <a:spcAft>
                <a:spcPts val="0"/>
              </a:spcAft>
              <a:buClr>
                <a:schemeClr val="dk1"/>
              </a:buClr>
              <a:buSzPts val="2400"/>
              <a:buFont typeface="Times New Roman" panose="02020603050405020304"/>
              <a:buNone/>
            </a:pPr>
            <a:r>
              <a:rPr lang="en-IN" altLang="en-US" sz="1400" b="1">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MS.HINDUMATHY</a:t>
            </a:r>
            <a:endParaRPr lang="en-US" sz="1400" b="1" i="0" u="none" strike="noStrike" cap="none">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lnSpc>
                <a:spcPct val="150000"/>
              </a:lnSpc>
              <a:spcBef>
                <a:spcPts val="0"/>
              </a:spcBef>
              <a:spcAft>
                <a:spcPts val="0"/>
              </a:spcAft>
              <a:buClr>
                <a:schemeClr val="dk1"/>
              </a:buClr>
              <a:buSzPts val="2400"/>
              <a:buFont typeface="Times New Roman" panose="02020603050405020304"/>
              <a:buNone/>
            </a:pPr>
            <a:r>
              <a:rPr lang="en-IN" altLang="en-US" sz="1400" b="1">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ASSISTANTPROFESSOR</a:t>
            </a:r>
            <a:r>
              <a:rPr lang="en-US" sz="1400" b="1">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 CSE</a:t>
            </a:r>
            <a:endParaRPr lang="en-IN" sz="1400" b="1" dirty="0">
              <a:latin typeface="Times New Roman" panose="02020603050405020304" pitchFamily="18" charset="0"/>
              <a:cs typeface="Times New Roman" panose="02020603050405020304" pitchFamily="18" charset="0"/>
            </a:endParaRPr>
          </a:p>
          <a:p>
            <a:pPr>
              <a:lnSpc>
                <a:spcPct val="150000"/>
              </a:lnSpc>
            </a:pPr>
            <a:endParaRPr lang="en-IN"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
          <p:cNvSpPr/>
          <p:nvPr/>
        </p:nvSpPr>
        <p:spPr>
          <a:xfrm>
            <a:off x="4231322" y="23209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rgbClr val="FFFFFF"/>
                </a:solidFill>
                <a:latin typeface="Arial" panose="020B0604020202020204" pitchFamily="34" charset="0"/>
                <a:ea typeface="Calibri" panose="020F0502020204030204"/>
                <a:cs typeface="Arial" panose="020B0604020202020204" pitchFamily="34" charset="0"/>
                <a:sym typeface="Calibri" panose="020F0502020204030204"/>
              </a:rPr>
              <a:t>PROJECT STRUCTURE</a:t>
            </a:r>
            <a:endParaRPr sz="2000" dirty="0">
              <a:latin typeface="Arial" panose="020B0604020202020204" pitchFamily="34" charset="0"/>
              <a:cs typeface="Arial" panose="020B0604020202020204" pitchFamily="34" charset="0"/>
            </a:endParaRPr>
          </a:p>
        </p:txBody>
      </p:sp>
      <p:sp>
        <p:nvSpPr>
          <p:cNvPr id="142" name="Google Shape;142;p2"/>
          <p:cNvSpPr/>
          <p:nvPr/>
        </p:nvSpPr>
        <p:spPr>
          <a:xfrm>
            <a:off x="2224997" y="1491233"/>
            <a:ext cx="7741657" cy="3663950"/>
          </a:xfrm>
          <a:prstGeom prst="rect">
            <a:avLst/>
          </a:prstGeom>
          <a:solidFill>
            <a:schemeClr val="lt1"/>
          </a:solidFill>
          <a:ln>
            <a:noFill/>
          </a:ln>
        </p:spPr>
        <p:txBody>
          <a:bodyPr spcFirstLastPara="1" wrap="square" lIns="91425" tIns="45700" rIns="91425" bIns="45700" anchor="t" anchorCtr="0">
            <a:spAutoFit/>
          </a:bodyPr>
          <a:lstStyle/>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The proposed project work consisting of the Chapters as follows.</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1:  Introduction</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2:  Objective</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3:  Literature survey</a:t>
            </a: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4:  Proposed methodology</a:t>
            </a: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4:  Proposed model</a:t>
            </a: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5:  Experiments and Results</a:t>
            </a:r>
          </a:p>
          <a:p>
            <a:pPr marL="1428750" marR="0" lvl="0" indent="-1428750" algn="just" defTabSz="914400" rtl="0" eaLnBrk="1" fontAlgn="base" latinLnBrk="0" hangingPunct="1">
              <a:lnSpc>
                <a:spcPct val="100000"/>
              </a:lnSpc>
              <a:spcBef>
                <a:spcPct val="20000"/>
              </a:spcBef>
              <a:spcAft>
                <a:spcPct val="0"/>
              </a:spcAft>
              <a:buClr>
                <a:schemeClr val="hlink"/>
              </a:buClr>
              <a:buSzPct val="120000"/>
              <a:buFontTx/>
              <a:buNone/>
              <a:defRPr/>
            </a:pPr>
            <a:r>
              <a:rPr lang="en-US" sz="180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sym typeface="+mn-ea"/>
              </a:rPr>
              <a:t>Chapter 5:  Discussion and Conclusion</a:t>
            </a: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pPr marL="1485900" marR="0" lvl="0" indent="-1485900" algn="just" defTabSz="914400" rtl="0" eaLnBrk="1" fontAlgn="base" latinLnBrk="0" hangingPunct="1">
              <a:lnSpc>
                <a:spcPct val="100000"/>
              </a:lnSpc>
              <a:spcBef>
                <a:spcPct val="20000"/>
              </a:spcBef>
              <a:spcAft>
                <a:spcPct val="0"/>
              </a:spcAft>
              <a:buClr>
                <a:schemeClr val="hlink"/>
              </a:buClr>
              <a:buSzPct val="120000"/>
              <a:buFontTx/>
              <a:buNone/>
              <a:defRPr/>
            </a:pPr>
            <a:endParaRPr kumimoji="0" lang="en-US" sz="1800" b="0" i="0" u="none" strike="noStrike" kern="0" cap="none" spc="0" normalizeH="0" baseline="0" noProof="0" dirty="0">
              <a:ln>
                <a:noFill/>
              </a:ln>
              <a:solidFill>
                <a:schemeClr val="accent4">
                  <a:lumMod val="10000"/>
                </a:schemeClr>
              </a:solidFill>
              <a:effectLst/>
              <a:uLnTx/>
              <a:uFillTx/>
              <a:latin typeface="Bookman Old Style" panose="02050604050505020204" pitchFamily="18" charset="0"/>
              <a:ea typeface="+mn-ea"/>
              <a:cs typeface="Times New Roman" panose="02020603050405020304" pitchFamily="18" charset="0"/>
            </a:endParaRPr>
          </a:p>
          <a:p>
            <a:r>
              <a:rPr lang="en-US" sz="20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957" y="197167"/>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INTRODUCTION</a:t>
            </a:r>
          </a:p>
        </p:txBody>
      </p:sp>
      <p:sp>
        <p:nvSpPr>
          <p:cNvPr id="2" name="Text Box 1"/>
          <p:cNvSpPr txBox="1"/>
          <p:nvPr/>
        </p:nvSpPr>
        <p:spPr>
          <a:xfrm>
            <a:off x="1407795" y="1188720"/>
            <a:ext cx="9595485" cy="2239645"/>
          </a:xfrm>
          <a:prstGeom prst="rect">
            <a:avLst/>
          </a:prstGeom>
          <a:noFill/>
        </p:spPr>
        <p:txBody>
          <a:bodyPr wrap="square" rtlCol="0" anchor="t">
            <a:noAutofit/>
          </a:bodyPr>
          <a:lstStyle/>
          <a:p>
            <a:pPr algn="just">
              <a:lnSpc>
                <a:spcPct val="150000"/>
              </a:lnSpc>
            </a:pPr>
            <a:r>
              <a:rPr lang="en-US" altLang="en-GB" sz="2000">
                <a:latin typeface="Bookman Old Style" panose="02050604050505020204" pitchFamily="18" charset="0"/>
                <a:cs typeface="Bookman Old Style" panose="02050604050505020204" pitchFamily="18" charset="0"/>
                <a:sym typeface="+mn-ea"/>
              </a:rPr>
              <a:t>Tiny Trail is a web-based marketplace that helps home entrepreneurs connect with local customers. It offers multilingual (Tamil + English) product listing, secure UPI payments with JWT authentication, and pincode-based discovery, all in a simple, user-friendly design. Future scope includes logistics and delivery.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225107"/>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OBJECTIVE</a:t>
            </a:r>
          </a:p>
        </p:txBody>
      </p:sp>
      <p:sp>
        <p:nvSpPr>
          <p:cNvPr id="4" name="Text Box 3"/>
          <p:cNvSpPr txBox="1"/>
          <p:nvPr/>
        </p:nvSpPr>
        <p:spPr>
          <a:xfrm>
            <a:off x="1411605" y="1418590"/>
            <a:ext cx="9963150" cy="3716020"/>
          </a:xfrm>
          <a:prstGeom prst="rect">
            <a:avLst/>
          </a:prstGeom>
          <a:noFill/>
        </p:spPr>
        <p:txBody>
          <a:bodyPr wrap="square" rtlCol="0">
            <a:noAutofit/>
          </a:bodyPr>
          <a:lstStyle/>
          <a:p>
            <a:pPr>
              <a:lnSpc>
                <a:spcPct val="110000"/>
              </a:lnSpc>
            </a:pPr>
            <a:r>
              <a:rPr lang="en-US" altLang="en-GB"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The main objective of Tiny Trail is to build a secure, web-based</a:t>
            </a:r>
            <a:r>
              <a:rPr lang="en-IN" altLang="en-US"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 </a:t>
            </a:r>
            <a:r>
              <a:rPr lang="en-US" altLang="en-GB"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platform that empowers local entrepreneurs to digitize their</a:t>
            </a:r>
            <a:r>
              <a:rPr lang="en-IN" altLang="en-US"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 </a:t>
            </a:r>
            <a:r>
              <a:rPr lang="en-US" altLang="en-GB"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businesses with ease.</a:t>
            </a:r>
          </a:p>
          <a:p>
            <a:pPr>
              <a:lnSpc>
                <a:spcPct val="110000"/>
              </a:lnSpc>
            </a:pPr>
            <a:endParaRPr lang="en-US" altLang="en-GB"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endParaRPr>
          </a:p>
          <a:p>
            <a:pPr>
              <a:lnSpc>
                <a:spcPct val="110000"/>
              </a:lnSpc>
            </a:pPr>
            <a:r>
              <a:rPr lang="en-US" altLang="en-GB"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It aims to</a:t>
            </a:r>
            <a:r>
              <a:rPr lang="en-IN" altLang="en-US"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a:t>
            </a:r>
          </a:p>
          <a:p>
            <a:pPr marL="342900" indent="-342900">
              <a:lnSpc>
                <a:spcPct val="110000"/>
              </a:lnSpc>
              <a:buFont typeface="Arial" panose="020B0604020202020204" pitchFamily="34" charset="0"/>
              <a:buChar char="•"/>
            </a:pPr>
            <a:r>
              <a:rPr lang="en-US" altLang="en-GB" sz="2000"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Simplify product listing through multilingual support (Tamil + English).</a:t>
            </a:r>
          </a:p>
          <a:p>
            <a:pPr marL="342900" indent="-342900">
              <a:lnSpc>
                <a:spcPct val="110000"/>
              </a:lnSpc>
              <a:buFont typeface="Arial" panose="020B0604020202020204" pitchFamily="34" charset="0"/>
              <a:buChar char="•"/>
            </a:pPr>
            <a:r>
              <a:rPr lang="en-US" altLang="en-GB" sz="2000"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Ensure trust and security using JWT-based authentication and UPI payments.</a:t>
            </a:r>
          </a:p>
          <a:p>
            <a:pPr marL="342900" indent="-342900">
              <a:lnSpc>
                <a:spcPct val="110000"/>
              </a:lnSpc>
              <a:buFont typeface="Arial" panose="020B0604020202020204" pitchFamily="34" charset="0"/>
              <a:buChar char="•"/>
            </a:pPr>
            <a:r>
              <a:rPr lang="en-US" altLang="en-GB" sz="2000"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rPr>
              <a:t>Enable local product discovery through pincode and proximity-based search.</a:t>
            </a:r>
          </a:p>
          <a:p>
            <a:pPr>
              <a:lnSpc>
                <a:spcPct val="110000"/>
              </a:lnSpc>
            </a:pPr>
            <a:endParaRPr lang="en-GB" altLang="en-US" sz="2000">
              <a:latin typeface="Bookman Old Style" panose="02050604050505020204" pitchFamily="18" charset="0"/>
              <a:cs typeface="Bookman Old Style" panose="02050604050505020204" pitchFamily="18" charset="0"/>
            </a:endParaRPr>
          </a:p>
          <a:p>
            <a:pPr>
              <a:lnSpc>
                <a:spcPct val="110000"/>
              </a:lnSpc>
            </a:pPr>
            <a:endParaRPr lang="en-US" altLang="en-GB"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endParaRPr>
          </a:p>
          <a:p>
            <a:pPr>
              <a:lnSpc>
                <a:spcPct val="110000"/>
              </a:lnSpc>
            </a:pPr>
            <a:endParaRPr lang="en-IN" altLang="en-US"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endParaRPr>
          </a:p>
          <a:p>
            <a:pPr>
              <a:lnSpc>
                <a:spcPct val="110000"/>
              </a:lnSpc>
            </a:pPr>
            <a:endParaRPr lang="en-IN" altLang="en-US" sz="2000" b="1" noProof="0" dirty="0">
              <a:ln>
                <a:noFill/>
              </a:ln>
              <a:solidFill>
                <a:schemeClr val="accent4">
                  <a:lumMod val="10000"/>
                </a:schemeClr>
              </a:solidFill>
              <a:effectLst/>
              <a:uLnTx/>
              <a:uFillTx/>
              <a:latin typeface="Bookman Old Style" panose="02050604050505020204" pitchFamily="18" charset="0"/>
              <a:ea typeface="+mn-ea"/>
              <a:cs typeface="Bookman Old Style" panose="020506040505050202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273367"/>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LITERATURE SURVEY </a:t>
            </a:r>
          </a:p>
        </p:txBody>
      </p:sp>
      <p:graphicFrame>
        <p:nvGraphicFramePr>
          <p:cNvPr id="2" name="Table 1"/>
          <p:cNvGraphicFramePr/>
          <p:nvPr/>
        </p:nvGraphicFramePr>
        <p:xfrm>
          <a:off x="1828800" y="1139825"/>
          <a:ext cx="8936355" cy="4857115"/>
        </p:xfrm>
        <a:graphic>
          <a:graphicData uri="http://schemas.openxmlformats.org/drawingml/2006/table">
            <a:tbl>
              <a:tblPr firstRow="1" bandRow="1">
                <a:tableStyleId>{5C22544A-7EE6-4342-B048-85BDC9FD1C3A}</a:tableStyleId>
              </a:tblPr>
              <a:tblGrid>
                <a:gridCol w="3715385">
                  <a:extLst>
                    <a:ext uri="{9D8B030D-6E8A-4147-A177-3AD203B41FA5}">
                      <a16:colId xmlns:a16="http://schemas.microsoft.com/office/drawing/2014/main" val="20000"/>
                    </a:ext>
                  </a:extLst>
                </a:gridCol>
                <a:gridCol w="5220970">
                  <a:extLst>
                    <a:ext uri="{9D8B030D-6E8A-4147-A177-3AD203B41FA5}">
                      <a16:colId xmlns:a16="http://schemas.microsoft.com/office/drawing/2014/main" val="20001"/>
                    </a:ext>
                  </a:extLst>
                </a:gridCol>
              </a:tblGrid>
              <a:tr h="381000">
                <a:tc gridSpan="2">
                  <a:txBody>
                    <a:bodyPr/>
                    <a:lstStyle/>
                    <a:p>
                      <a:pPr>
                        <a:buNone/>
                      </a:pPr>
                      <a:r>
                        <a:rPr lang="en-US" sz="1400">
                          <a:latin typeface="Bookman Old Style" panose="02050604050505020204" pitchFamily="18" charset="0"/>
                          <a:cs typeface="Bookman Old Style" panose="02050604050505020204" pitchFamily="18" charset="0"/>
                        </a:rPr>
                        <a:t>RESEARCH ARTICLE :01</a:t>
                      </a:r>
                    </a:p>
                  </a:txBody>
                  <a:tcPr/>
                </a:tc>
                <a:tc hMerge="1">
                  <a:txBody>
                    <a:bodyPr/>
                    <a:lstStyle/>
                    <a:p>
                      <a:endParaRPr lang="en-US"/>
                    </a:p>
                  </a:txBody>
                  <a:tcPr/>
                </a:tc>
                <a:extLst>
                  <a:ext uri="{0D108BD9-81ED-4DB2-BD59-A6C34878D82A}">
                    <a16:rowId xmlns:a16="http://schemas.microsoft.com/office/drawing/2014/main" val="10000"/>
                  </a:ext>
                </a:extLst>
              </a:tr>
              <a:tr h="687705">
                <a:tc>
                  <a:txBody>
                    <a:bodyPr/>
                    <a:lstStyle/>
                    <a:p>
                      <a:pPr>
                        <a:buNone/>
                      </a:pPr>
                      <a:r>
                        <a:rPr lang="en-US" sz="1400">
                          <a:latin typeface="Bookman Old Style" panose="02050604050505020204" pitchFamily="18" charset="0"/>
                          <a:cs typeface="Bookman Old Style" panose="02050604050505020204" pitchFamily="18" charset="0"/>
                        </a:rPr>
                        <a:t>TITLE OF THE RESEARCH ARTICLE </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E-Commerce Adoption by Women Entrepreneurs in India: An Application of the UTAUT Model</a:t>
                      </a:r>
                    </a:p>
                  </a:txBody>
                  <a:tcPr/>
                </a:tc>
                <a:extLst>
                  <a:ext uri="{0D108BD9-81ED-4DB2-BD59-A6C34878D82A}">
                    <a16:rowId xmlns:a16="http://schemas.microsoft.com/office/drawing/2014/main" val="10001"/>
                  </a:ext>
                </a:extLst>
              </a:tr>
              <a:tr h="635000">
                <a:tc>
                  <a:txBody>
                    <a:bodyPr/>
                    <a:lstStyle/>
                    <a:p>
                      <a:pPr>
                        <a:buNone/>
                      </a:pPr>
                      <a:r>
                        <a:rPr lang="en-US" sz="1400">
                          <a:solidFill>
                            <a:schemeClr val="tx1"/>
                          </a:solidFill>
                          <a:latin typeface="Bookman Old Style" panose="02050604050505020204" pitchFamily="18" charset="0"/>
                          <a:cs typeface="Bookman Old Style" panose="02050604050505020204" pitchFamily="18" charset="0"/>
                        </a:rPr>
                        <a:t>PROBLEM ADDRESSED / IDENTIFIED</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Women entrepreneurs face challenges in adopting e-commerce due to language, complexity, and digital skills.</a:t>
                      </a:r>
                    </a:p>
                  </a:txBody>
                  <a:tcPr/>
                </a:tc>
                <a:extLst>
                  <a:ext uri="{0D108BD9-81ED-4DB2-BD59-A6C34878D82A}">
                    <a16:rowId xmlns:a16="http://schemas.microsoft.com/office/drawing/2014/main" val="10002"/>
                  </a:ext>
                </a:extLst>
              </a:tr>
              <a:tr h="645795">
                <a:tc>
                  <a:txBody>
                    <a:bodyPr/>
                    <a:lstStyle/>
                    <a:p>
                      <a:pPr>
                        <a:buNone/>
                      </a:pPr>
                      <a:r>
                        <a:rPr lang="en-US" sz="1400">
                          <a:latin typeface="Bookman Old Style" panose="02050604050505020204" pitchFamily="18" charset="0"/>
                          <a:cs typeface="Bookman Old Style" panose="02050604050505020204" pitchFamily="18" charset="0"/>
                        </a:rPr>
                        <a:t>AIM / OBJECTIVES</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To study factors influencing women’s adoption of e-commerce using UTAUT model.</a:t>
                      </a:r>
                    </a:p>
                  </a:txBody>
                  <a:tcPr/>
                </a:tc>
                <a:extLst>
                  <a:ext uri="{0D108BD9-81ED-4DB2-BD59-A6C34878D82A}">
                    <a16:rowId xmlns:a16="http://schemas.microsoft.com/office/drawing/2014/main" val="10003"/>
                  </a:ext>
                </a:extLst>
              </a:tr>
              <a:tr h="613410">
                <a:tc>
                  <a:txBody>
                    <a:bodyPr/>
                    <a:lstStyle/>
                    <a:p>
                      <a:pPr>
                        <a:buNone/>
                      </a:pPr>
                      <a:r>
                        <a:rPr lang="en-US" sz="1400">
                          <a:latin typeface="Bookman Old Style" panose="02050604050505020204" pitchFamily="18" charset="0"/>
                          <a:cs typeface="Bookman Old Style" panose="02050604050505020204" pitchFamily="18" charset="0"/>
                        </a:rPr>
                        <a:t>NOVELTY / SIGNIFICANCE</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Focuses on women-owned small businesses and their behavioral intention towards e-commerce.</a:t>
                      </a:r>
                    </a:p>
                  </a:txBody>
                  <a:tcPr/>
                </a:tc>
                <a:extLst>
                  <a:ext uri="{0D108BD9-81ED-4DB2-BD59-A6C34878D82A}">
                    <a16:rowId xmlns:a16="http://schemas.microsoft.com/office/drawing/2014/main" val="10004"/>
                  </a:ext>
                </a:extLst>
              </a:tr>
              <a:tr h="550545">
                <a:tc>
                  <a:txBody>
                    <a:bodyPr/>
                    <a:lstStyle/>
                    <a:p>
                      <a:pPr>
                        <a:buNone/>
                      </a:pPr>
                      <a:r>
                        <a:rPr lang="en-US" sz="1400">
                          <a:latin typeface="Bookman Old Style" panose="02050604050505020204" pitchFamily="18" charset="0"/>
                          <a:cs typeface="Bookman Old Style" panose="02050604050505020204" pitchFamily="18" charset="0"/>
                        </a:rPr>
                        <a:t>LIMITATION / WEAKNESS</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Limited to small geographic area and sample size.</a:t>
                      </a:r>
                    </a:p>
                  </a:txBody>
                  <a:tcPr/>
                </a:tc>
                <a:extLst>
                  <a:ext uri="{0D108BD9-81ED-4DB2-BD59-A6C34878D82A}">
                    <a16:rowId xmlns:a16="http://schemas.microsoft.com/office/drawing/2014/main" val="10005"/>
                  </a:ext>
                </a:extLst>
              </a:tr>
              <a:tr h="687705">
                <a:tc>
                  <a:txBody>
                    <a:bodyPr/>
                    <a:lstStyle/>
                    <a:p>
                      <a:pPr>
                        <a:buNone/>
                      </a:pPr>
                      <a:r>
                        <a:rPr lang="en-US" sz="1400">
                          <a:latin typeface="Bookman Old Style" panose="02050604050505020204" pitchFamily="18" charset="0"/>
                          <a:cs typeface="Bookman Old Style" panose="02050604050505020204" pitchFamily="18" charset="0"/>
                        </a:rPr>
                        <a:t>FINDINGS / CONCLUSION</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Effort expectancy, performance, and social influence drive adoption.</a:t>
                      </a:r>
                    </a:p>
                  </a:txBody>
                  <a:tcPr/>
                </a:tc>
                <a:extLst>
                  <a:ext uri="{0D108BD9-81ED-4DB2-BD59-A6C34878D82A}">
                    <a16:rowId xmlns:a16="http://schemas.microsoft.com/office/drawing/2014/main" val="10006"/>
                  </a:ext>
                </a:extLst>
              </a:tr>
              <a:tr h="655955">
                <a:tc>
                  <a:txBody>
                    <a:bodyPr/>
                    <a:lstStyle/>
                    <a:p>
                      <a:pPr>
                        <a:buNone/>
                      </a:pPr>
                      <a:r>
                        <a:rPr lang="en-US" sz="1400">
                          <a:latin typeface="Bookman Old Style" panose="02050604050505020204" pitchFamily="18" charset="0"/>
                          <a:cs typeface="Bookman Old Style" panose="02050604050505020204" pitchFamily="18" charset="0"/>
                        </a:rPr>
                        <a:t>AREAS OF IMPROVEMENT / </a:t>
                      </a:r>
                    </a:p>
                    <a:p>
                      <a:pPr>
                        <a:buNone/>
                      </a:pPr>
                      <a:r>
                        <a:rPr lang="en-US" sz="1400">
                          <a:latin typeface="Bookman Old Style" panose="02050604050505020204" pitchFamily="18" charset="0"/>
                          <a:cs typeface="Bookman Old Style" panose="02050604050505020204" pitchFamily="18" charset="0"/>
                        </a:rPr>
                        <a:t>FUTURE ENHANCEMENT</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Expand study across regions and include digital literacy factors.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273367"/>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LITERATURE SURVEY </a:t>
            </a:r>
          </a:p>
        </p:txBody>
      </p:sp>
      <p:graphicFrame>
        <p:nvGraphicFramePr>
          <p:cNvPr id="2" name="Table 1"/>
          <p:cNvGraphicFramePr/>
          <p:nvPr/>
        </p:nvGraphicFramePr>
        <p:xfrm>
          <a:off x="1828800" y="1139825"/>
          <a:ext cx="8936355" cy="4857115"/>
        </p:xfrm>
        <a:graphic>
          <a:graphicData uri="http://schemas.openxmlformats.org/drawingml/2006/table">
            <a:tbl>
              <a:tblPr firstRow="1" bandRow="1">
                <a:tableStyleId>{5C22544A-7EE6-4342-B048-85BDC9FD1C3A}</a:tableStyleId>
              </a:tblPr>
              <a:tblGrid>
                <a:gridCol w="3715385">
                  <a:extLst>
                    <a:ext uri="{9D8B030D-6E8A-4147-A177-3AD203B41FA5}">
                      <a16:colId xmlns:a16="http://schemas.microsoft.com/office/drawing/2014/main" val="20000"/>
                    </a:ext>
                  </a:extLst>
                </a:gridCol>
                <a:gridCol w="5220970">
                  <a:extLst>
                    <a:ext uri="{9D8B030D-6E8A-4147-A177-3AD203B41FA5}">
                      <a16:colId xmlns:a16="http://schemas.microsoft.com/office/drawing/2014/main" val="20001"/>
                    </a:ext>
                  </a:extLst>
                </a:gridCol>
              </a:tblGrid>
              <a:tr h="381000">
                <a:tc gridSpan="2">
                  <a:txBody>
                    <a:bodyPr/>
                    <a:lstStyle/>
                    <a:p>
                      <a:pPr>
                        <a:buNone/>
                      </a:pPr>
                      <a:r>
                        <a:rPr lang="en-US" sz="1400">
                          <a:latin typeface="Bookman Old Style" panose="02050604050505020204" pitchFamily="18" charset="0"/>
                          <a:cs typeface="Bookman Old Style" panose="02050604050505020204" pitchFamily="18" charset="0"/>
                        </a:rPr>
                        <a:t>RESEARCH ARTICLE :0</a:t>
                      </a:r>
                      <a:r>
                        <a:rPr lang="en-IN" altLang="en-US" sz="1400">
                          <a:latin typeface="Bookman Old Style" panose="02050604050505020204" pitchFamily="18" charset="0"/>
                          <a:cs typeface="Bookman Old Style" panose="02050604050505020204" pitchFamily="18" charset="0"/>
                        </a:rPr>
                        <a:t>2</a:t>
                      </a:r>
                    </a:p>
                  </a:txBody>
                  <a:tcPr/>
                </a:tc>
                <a:tc hMerge="1">
                  <a:txBody>
                    <a:bodyPr/>
                    <a:lstStyle/>
                    <a:p>
                      <a:endParaRPr lang="en-US"/>
                    </a:p>
                  </a:txBody>
                  <a:tcPr/>
                </a:tc>
                <a:extLst>
                  <a:ext uri="{0D108BD9-81ED-4DB2-BD59-A6C34878D82A}">
                    <a16:rowId xmlns:a16="http://schemas.microsoft.com/office/drawing/2014/main" val="10000"/>
                  </a:ext>
                </a:extLst>
              </a:tr>
              <a:tr h="687705">
                <a:tc>
                  <a:txBody>
                    <a:bodyPr/>
                    <a:lstStyle/>
                    <a:p>
                      <a:pPr>
                        <a:buNone/>
                      </a:pPr>
                      <a:r>
                        <a:rPr lang="en-US" sz="1400">
                          <a:latin typeface="Bookman Old Style" panose="02050604050505020204" pitchFamily="18" charset="0"/>
                          <a:cs typeface="Bookman Old Style" panose="02050604050505020204" pitchFamily="18" charset="0"/>
                        </a:rPr>
                        <a:t>TITLE OF THE RESEARCH ARTICLE </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Social Commerce and Women Entrepreneurs in Rural India</a:t>
                      </a:r>
                    </a:p>
                  </a:txBody>
                  <a:tcPr/>
                </a:tc>
                <a:extLst>
                  <a:ext uri="{0D108BD9-81ED-4DB2-BD59-A6C34878D82A}">
                    <a16:rowId xmlns:a16="http://schemas.microsoft.com/office/drawing/2014/main" val="10001"/>
                  </a:ext>
                </a:extLst>
              </a:tr>
              <a:tr h="635000">
                <a:tc>
                  <a:txBody>
                    <a:bodyPr/>
                    <a:lstStyle/>
                    <a:p>
                      <a:pPr>
                        <a:buNone/>
                      </a:pPr>
                      <a:r>
                        <a:rPr lang="en-US" sz="1400">
                          <a:solidFill>
                            <a:schemeClr val="tx1"/>
                          </a:solidFill>
                          <a:latin typeface="Bookman Old Style" panose="02050604050505020204" pitchFamily="18" charset="0"/>
                          <a:cs typeface="Bookman Old Style" panose="02050604050505020204" pitchFamily="18" charset="0"/>
                        </a:rPr>
                        <a:t>PROBLEM ADDRESSED / IDENTIFIED</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Rural women lack visibility on big platforms like Amazon/Flipkart.</a:t>
                      </a:r>
                    </a:p>
                  </a:txBody>
                  <a:tcPr/>
                </a:tc>
                <a:extLst>
                  <a:ext uri="{0D108BD9-81ED-4DB2-BD59-A6C34878D82A}">
                    <a16:rowId xmlns:a16="http://schemas.microsoft.com/office/drawing/2014/main" val="10002"/>
                  </a:ext>
                </a:extLst>
              </a:tr>
              <a:tr h="645795">
                <a:tc>
                  <a:txBody>
                    <a:bodyPr/>
                    <a:lstStyle/>
                    <a:p>
                      <a:pPr>
                        <a:buNone/>
                      </a:pPr>
                      <a:r>
                        <a:rPr lang="en-US" sz="1400">
                          <a:latin typeface="Bookman Old Style" panose="02050604050505020204" pitchFamily="18" charset="0"/>
                          <a:cs typeface="Bookman Old Style" panose="02050604050505020204" pitchFamily="18" charset="0"/>
                        </a:rPr>
                        <a:t>AIM / OBJECTIVES</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To study how social commerce helps women-led microbusinesses.</a:t>
                      </a:r>
                    </a:p>
                  </a:txBody>
                  <a:tcPr/>
                </a:tc>
                <a:extLst>
                  <a:ext uri="{0D108BD9-81ED-4DB2-BD59-A6C34878D82A}">
                    <a16:rowId xmlns:a16="http://schemas.microsoft.com/office/drawing/2014/main" val="10003"/>
                  </a:ext>
                </a:extLst>
              </a:tr>
              <a:tr h="613410">
                <a:tc>
                  <a:txBody>
                    <a:bodyPr/>
                    <a:lstStyle/>
                    <a:p>
                      <a:pPr>
                        <a:buNone/>
                      </a:pPr>
                      <a:r>
                        <a:rPr lang="en-US" sz="1400">
                          <a:latin typeface="Bookman Old Style" panose="02050604050505020204" pitchFamily="18" charset="0"/>
                          <a:cs typeface="Bookman Old Style" panose="02050604050505020204" pitchFamily="18" charset="0"/>
                        </a:rPr>
                        <a:t>NOVELTY / SIGNIFICANCE</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Focuses on small-scale sellers using WhatsApp/Instagram shops.</a:t>
                      </a:r>
                    </a:p>
                  </a:txBody>
                  <a:tcPr/>
                </a:tc>
                <a:extLst>
                  <a:ext uri="{0D108BD9-81ED-4DB2-BD59-A6C34878D82A}">
                    <a16:rowId xmlns:a16="http://schemas.microsoft.com/office/drawing/2014/main" val="10004"/>
                  </a:ext>
                </a:extLst>
              </a:tr>
              <a:tr h="550545">
                <a:tc>
                  <a:txBody>
                    <a:bodyPr/>
                    <a:lstStyle/>
                    <a:p>
                      <a:pPr>
                        <a:buNone/>
                      </a:pPr>
                      <a:r>
                        <a:rPr lang="en-US" sz="1400">
                          <a:latin typeface="Bookman Old Style" panose="02050604050505020204" pitchFamily="18" charset="0"/>
                          <a:cs typeface="Bookman Old Style" panose="02050604050505020204" pitchFamily="18" charset="0"/>
                        </a:rPr>
                        <a:t>LIMITATION / WEAKNESS</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Trust issues and lack of integrated payment systems.</a:t>
                      </a:r>
                    </a:p>
                  </a:txBody>
                  <a:tcPr/>
                </a:tc>
                <a:extLst>
                  <a:ext uri="{0D108BD9-81ED-4DB2-BD59-A6C34878D82A}">
                    <a16:rowId xmlns:a16="http://schemas.microsoft.com/office/drawing/2014/main" val="10005"/>
                  </a:ext>
                </a:extLst>
              </a:tr>
              <a:tr h="687705">
                <a:tc>
                  <a:txBody>
                    <a:bodyPr/>
                    <a:lstStyle/>
                    <a:p>
                      <a:pPr>
                        <a:buNone/>
                      </a:pPr>
                      <a:r>
                        <a:rPr lang="en-US" sz="1400">
                          <a:latin typeface="Bookman Old Style" panose="02050604050505020204" pitchFamily="18" charset="0"/>
                          <a:cs typeface="Bookman Old Style" panose="02050604050505020204" pitchFamily="18" charset="0"/>
                        </a:rPr>
                        <a:t>FINDINGS / CONCLUSION</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Social commerce boosts sales but needs structured platforms.</a:t>
                      </a:r>
                    </a:p>
                  </a:txBody>
                  <a:tcPr/>
                </a:tc>
                <a:extLst>
                  <a:ext uri="{0D108BD9-81ED-4DB2-BD59-A6C34878D82A}">
                    <a16:rowId xmlns:a16="http://schemas.microsoft.com/office/drawing/2014/main" val="10006"/>
                  </a:ext>
                </a:extLst>
              </a:tr>
              <a:tr h="655955">
                <a:tc>
                  <a:txBody>
                    <a:bodyPr/>
                    <a:lstStyle/>
                    <a:p>
                      <a:pPr>
                        <a:buNone/>
                      </a:pPr>
                      <a:r>
                        <a:rPr lang="en-US" sz="1400">
                          <a:latin typeface="Bookman Old Style" panose="02050604050505020204" pitchFamily="18" charset="0"/>
                          <a:cs typeface="Bookman Old Style" panose="02050604050505020204" pitchFamily="18" charset="0"/>
                        </a:rPr>
                        <a:t>AREAS OF IMPROVEMENT / </a:t>
                      </a:r>
                    </a:p>
                    <a:p>
                      <a:pPr>
                        <a:buNone/>
                      </a:pPr>
                      <a:r>
                        <a:rPr lang="en-US" sz="1400">
                          <a:latin typeface="Bookman Old Style" panose="02050604050505020204" pitchFamily="18" charset="0"/>
                          <a:cs typeface="Bookman Old Style" panose="02050604050505020204" pitchFamily="18" charset="0"/>
                        </a:rPr>
                        <a:t>FUTURE ENHANCEMENT</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Build localized, secure, and easy-to-use platforms.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273367"/>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LITERATURE SURVEY </a:t>
            </a:r>
          </a:p>
        </p:txBody>
      </p:sp>
      <p:graphicFrame>
        <p:nvGraphicFramePr>
          <p:cNvPr id="2" name="Table 1"/>
          <p:cNvGraphicFramePr/>
          <p:nvPr/>
        </p:nvGraphicFramePr>
        <p:xfrm>
          <a:off x="1828800" y="1139825"/>
          <a:ext cx="8936355" cy="4857115"/>
        </p:xfrm>
        <a:graphic>
          <a:graphicData uri="http://schemas.openxmlformats.org/drawingml/2006/table">
            <a:tbl>
              <a:tblPr firstRow="1" bandRow="1">
                <a:tableStyleId>{5C22544A-7EE6-4342-B048-85BDC9FD1C3A}</a:tableStyleId>
              </a:tblPr>
              <a:tblGrid>
                <a:gridCol w="3715385">
                  <a:extLst>
                    <a:ext uri="{9D8B030D-6E8A-4147-A177-3AD203B41FA5}">
                      <a16:colId xmlns:a16="http://schemas.microsoft.com/office/drawing/2014/main" val="20000"/>
                    </a:ext>
                  </a:extLst>
                </a:gridCol>
                <a:gridCol w="5220970">
                  <a:extLst>
                    <a:ext uri="{9D8B030D-6E8A-4147-A177-3AD203B41FA5}">
                      <a16:colId xmlns:a16="http://schemas.microsoft.com/office/drawing/2014/main" val="20001"/>
                    </a:ext>
                  </a:extLst>
                </a:gridCol>
              </a:tblGrid>
              <a:tr h="381000">
                <a:tc gridSpan="2">
                  <a:txBody>
                    <a:bodyPr/>
                    <a:lstStyle/>
                    <a:p>
                      <a:pPr>
                        <a:buNone/>
                      </a:pPr>
                      <a:r>
                        <a:rPr lang="en-US" sz="1400">
                          <a:latin typeface="Bookman Old Style" panose="02050604050505020204" pitchFamily="18" charset="0"/>
                          <a:cs typeface="Bookman Old Style" panose="02050604050505020204" pitchFamily="18" charset="0"/>
                        </a:rPr>
                        <a:t>RESEARCH ARTICLE :0</a:t>
                      </a:r>
                      <a:r>
                        <a:rPr lang="en-IN" altLang="en-US" sz="1400">
                          <a:latin typeface="Bookman Old Style" panose="02050604050505020204" pitchFamily="18" charset="0"/>
                          <a:cs typeface="Bookman Old Style" panose="02050604050505020204" pitchFamily="18" charset="0"/>
                        </a:rPr>
                        <a:t>3</a:t>
                      </a:r>
                    </a:p>
                  </a:txBody>
                  <a:tcPr/>
                </a:tc>
                <a:tc hMerge="1">
                  <a:txBody>
                    <a:bodyPr/>
                    <a:lstStyle/>
                    <a:p>
                      <a:endParaRPr lang="en-US"/>
                    </a:p>
                  </a:txBody>
                  <a:tcPr/>
                </a:tc>
                <a:extLst>
                  <a:ext uri="{0D108BD9-81ED-4DB2-BD59-A6C34878D82A}">
                    <a16:rowId xmlns:a16="http://schemas.microsoft.com/office/drawing/2014/main" val="10000"/>
                  </a:ext>
                </a:extLst>
              </a:tr>
              <a:tr h="687705">
                <a:tc>
                  <a:txBody>
                    <a:bodyPr/>
                    <a:lstStyle/>
                    <a:p>
                      <a:pPr>
                        <a:buNone/>
                      </a:pPr>
                      <a:r>
                        <a:rPr lang="en-US" sz="1400">
                          <a:latin typeface="Bookman Old Style" panose="02050604050505020204" pitchFamily="18" charset="0"/>
                          <a:cs typeface="Bookman Old Style" panose="02050604050505020204" pitchFamily="18" charset="0"/>
                        </a:rPr>
                        <a:t>TITLE OF THE RESEARCH ARTICLE </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Digital Empowerment of Small Businesses through Local E-Marketplaces</a:t>
                      </a:r>
                    </a:p>
                  </a:txBody>
                  <a:tcPr/>
                </a:tc>
                <a:extLst>
                  <a:ext uri="{0D108BD9-81ED-4DB2-BD59-A6C34878D82A}">
                    <a16:rowId xmlns:a16="http://schemas.microsoft.com/office/drawing/2014/main" val="10001"/>
                  </a:ext>
                </a:extLst>
              </a:tr>
              <a:tr h="635000">
                <a:tc>
                  <a:txBody>
                    <a:bodyPr/>
                    <a:lstStyle/>
                    <a:p>
                      <a:pPr>
                        <a:buNone/>
                      </a:pPr>
                      <a:r>
                        <a:rPr lang="en-US" sz="1400">
                          <a:solidFill>
                            <a:schemeClr val="tx1"/>
                          </a:solidFill>
                          <a:latin typeface="Bookman Old Style" panose="02050604050505020204" pitchFamily="18" charset="0"/>
                          <a:cs typeface="Bookman Old Style" panose="02050604050505020204" pitchFamily="18" charset="0"/>
                        </a:rPr>
                        <a:t>PROBLEM ADDRESSED / IDENTIFIED</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Small entrepreneurs face barriers in joining global e-commerce platforms.</a:t>
                      </a:r>
                    </a:p>
                  </a:txBody>
                  <a:tcPr/>
                </a:tc>
                <a:extLst>
                  <a:ext uri="{0D108BD9-81ED-4DB2-BD59-A6C34878D82A}">
                    <a16:rowId xmlns:a16="http://schemas.microsoft.com/office/drawing/2014/main" val="10002"/>
                  </a:ext>
                </a:extLst>
              </a:tr>
              <a:tr h="645795">
                <a:tc>
                  <a:txBody>
                    <a:bodyPr/>
                    <a:lstStyle/>
                    <a:p>
                      <a:pPr>
                        <a:buNone/>
                      </a:pPr>
                      <a:r>
                        <a:rPr lang="en-US" sz="1400">
                          <a:latin typeface="Bookman Old Style" panose="02050604050505020204" pitchFamily="18" charset="0"/>
                          <a:cs typeface="Bookman Old Style" panose="02050604050505020204" pitchFamily="18" charset="0"/>
                        </a:rPr>
                        <a:t>AIM / OBJECTIVES</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To show how local web platforms empower microbusinesses.</a:t>
                      </a:r>
                    </a:p>
                  </a:txBody>
                  <a:tcPr/>
                </a:tc>
                <a:extLst>
                  <a:ext uri="{0D108BD9-81ED-4DB2-BD59-A6C34878D82A}">
                    <a16:rowId xmlns:a16="http://schemas.microsoft.com/office/drawing/2014/main" val="10003"/>
                  </a:ext>
                </a:extLst>
              </a:tr>
              <a:tr h="613410">
                <a:tc>
                  <a:txBody>
                    <a:bodyPr/>
                    <a:lstStyle/>
                    <a:p>
                      <a:pPr>
                        <a:buNone/>
                      </a:pPr>
                      <a:r>
                        <a:rPr lang="en-US" sz="1400">
                          <a:latin typeface="Bookman Old Style" panose="02050604050505020204" pitchFamily="18" charset="0"/>
                          <a:cs typeface="Bookman Old Style" panose="02050604050505020204" pitchFamily="18" charset="0"/>
                        </a:rPr>
                        <a:t>NOVELTY / SIGNIFICANCE</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Emphasizes pincode/local discovery and UPI integration.</a:t>
                      </a:r>
                    </a:p>
                  </a:txBody>
                  <a:tcPr/>
                </a:tc>
                <a:extLst>
                  <a:ext uri="{0D108BD9-81ED-4DB2-BD59-A6C34878D82A}">
                    <a16:rowId xmlns:a16="http://schemas.microsoft.com/office/drawing/2014/main" val="10004"/>
                  </a:ext>
                </a:extLst>
              </a:tr>
              <a:tr h="550545">
                <a:tc>
                  <a:txBody>
                    <a:bodyPr/>
                    <a:lstStyle/>
                    <a:p>
                      <a:pPr>
                        <a:buNone/>
                      </a:pPr>
                      <a:r>
                        <a:rPr lang="en-US" sz="1400">
                          <a:latin typeface="Bookman Old Style" panose="02050604050505020204" pitchFamily="18" charset="0"/>
                          <a:cs typeface="Bookman Old Style" panose="02050604050505020204" pitchFamily="18" charset="0"/>
                        </a:rPr>
                        <a:t>LIMITATION / WEAKNESS</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Delivery/logistics often missing in early stages.</a:t>
                      </a:r>
                    </a:p>
                  </a:txBody>
                  <a:tcPr/>
                </a:tc>
                <a:extLst>
                  <a:ext uri="{0D108BD9-81ED-4DB2-BD59-A6C34878D82A}">
                    <a16:rowId xmlns:a16="http://schemas.microsoft.com/office/drawing/2014/main" val="10005"/>
                  </a:ext>
                </a:extLst>
              </a:tr>
              <a:tr h="687705">
                <a:tc>
                  <a:txBody>
                    <a:bodyPr/>
                    <a:lstStyle/>
                    <a:p>
                      <a:pPr>
                        <a:buNone/>
                      </a:pPr>
                      <a:r>
                        <a:rPr lang="en-US" sz="1400">
                          <a:latin typeface="Bookman Old Style" panose="02050604050505020204" pitchFamily="18" charset="0"/>
                          <a:cs typeface="Bookman Old Style" panose="02050604050505020204" pitchFamily="18" charset="0"/>
                        </a:rPr>
                        <a:t>FINDINGS / CONCLUSION</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Localized platforms improve reach and trust.</a:t>
                      </a:r>
                    </a:p>
                  </a:txBody>
                  <a:tcPr/>
                </a:tc>
                <a:extLst>
                  <a:ext uri="{0D108BD9-81ED-4DB2-BD59-A6C34878D82A}">
                    <a16:rowId xmlns:a16="http://schemas.microsoft.com/office/drawing/2014/main" val="10006"/>
                  </a:ext>
                </a:extLst>
              </a:tr>
              <a:tr h="655955">
                <a:tc>
                  <a:txBody>
                    <a:bodyPr/>
                    <a:lstStyle/>
                    <a:p>
                      <a:pPr>
                        <a:buNone/>
                      </a:pPr>
                      <a:r>
                        <a:rPr lang="en-US" sz="1400">
                          <a:latin typeface="Bookman Old Style" panose="02050604050505020204" pitchFamily="18" charset="0"/>
                          <a:cs typeface="Bookman Old Style" panose="02050604050505020204" pitchFamily="18" charset="0"/>
                        </a:rPr>
                        <a:t>AREAS OF IMPROVEMENT / </a:t>
                      </a:r>
                    </a:p>
                    <a:p>
                      <a:pPr>
                        <a:buNone/>
                      </a:pPr>
                      <a:r>
                        <a:rPr lang="en-US" sz="1400">
                          <a:latin typeface="Bookman Old Style" panose="02050604050505020204" pitchFamily="18" charset="0"/>
                          <a:cs typeface="Bookman Old Style" panose="02050604050505020204" pitchFamily="18" charset="0"/>
                        </a:rPr>
                        <a:t>FUTURE ENHANCEMENT</a:t>
                      </a:r>
                    </a:p>
                  </a:txBody>
                  <a:tcPr/>
                </a:tc>
                <a:tc>
                  <a:txBody>
                    <a:bodyPr/>
                    <a:lstStyle/>
                    <a:p>
                      <a:pPr>
                        <a:buNone/>
                      </a:pPr>
                      <a:r>
                        <a:rPr lang="en-US" altLang="en-GB" sz="1400">
                          <a:latin typeface="Bookman Old Style" panose="02050604050505020204" pitchFamily="18" charset="0"/>
                          <a:cs typeface="Bookman Old Style" panose="02050604050505020204" pitchFamily="18" charset="0"/>
                        </a:rPr>
                        <a:t>Add delivery tie-ups, expand to more regional languages.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0687" y="28670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latin typeface="+mj-lt"/>
                <a:cs typeface="+mj-lt"/>
              </a:rPr>
              <a:t>EXISTING SYSTEM</a:t>
            </a:r>
          </a:p>
        </p:txBody>
      </p:sp>
      <p:sp>
        <p:nvSpPr>
          <p:cNvPr id="2" name="Text Box 1"/>
          <p:cNvSpPr txBox="1"/>
          <p:nvPr/>
        </p:nvSpPr>
        <p:spPr>
          <a:xfrm>
            <a:off x="1134110" y="1112520"/>
            <a:ext cx="9923145" cy="2894330"/>
          </a:xfrm>
          <a:prstGeom prst="rect">
            <a:avLst/>
          </a:prstGeom>
          <a:noFill/>
        </p:spPr>
        <p:txBody>
          <a:bodyPr wrap="square" rtlCol="0" anchor="t">
            <a:noAutofit/>
          </a:bodyPr>
          <a:lstStyle/>
          <a:p>
            <a:pPr indent="0" algn="just" eaLnBrk="1" hangingPunct="1">
              <a:lnSpc>
                <a:spcPct val="150000"/>
              </a:lnSpc>
              <a:spcBef>
                <a:spcPct val="0"/>
              </a:spcBef>
              <a:spcAft>
                <a:spcPts val="1800"/>
              </a:spcAft>
              <a:buNone/>
            </a:pPr>
            <a:r>
              <a:rPr lang="en-US" altLang="en-GB" sz="2000" dirty="0">
                <a:effectLst/>
                <a:latin typeface="Bookman Old Style" panose="02050604050505020204" pitchFamily="18" charset="0"/>
                <a:cs typeface="Bookman Old Style" panose="02050604050505020204" pitchFamily="18" charset="0"/>
                <a:sym typeface="+mn-ea"/>
              </a:rPr>
              <a:t>Current digital platforms like Amazon, Flipkart, OLX, and Facebook Marketplace are either too complex, highly commercialized, or cluttered with irrelevant products. They require advanced tech skills, typing in English, and lack simple UPI-based payments or structured order management. Local businesses mainly depend on word-of-mouth sales, which limits reach, trust, and growth.</a:t>
            </a:r>
          </a:p>
        </p:txBody>
      </p:sp>
      <p:grpSp>
        <p:nvGrpSpPr>
          <p:cNvPr id="8" name="Group 7"/>
          <p:cNvGrpSpPr/>
          <p:nvPr/>
        </p:nvGrpSpPr>
        <p:grpSpPr>
          <a:xfrm>
            <a:off x="1394460" y="4208145"/>
            <a:ext cx="9415145" cy="1257300"/>
            <a:chOff x="990" y="6692"/>
            <a:chExt cx="16565" cy="2212"/>
          </a:xfrm>
        </p:grpSpPr>
        <p:pic>
          <p:nvPicPr>
            <p:cNvPr id="3" name="Picture 2"/>
            <p:cNvPicPr/>
            <p:nvPr/>
          </p:nvPicPr>
          <p:blipFill>
            <a:blip r:embed="rId2"/>
            <a:stretch>
              <a:fillRect/>
            </a:stretch>
          </p:blipFill>
          <p:spPr>
            <a:xfrm>
              <a:off x="15971" y="7076"/>
              <a:ext cx="1585" cy="1828"/>
            </a:xfrm>
            <a:prstGeom prst="rect">
              <a:avLst/>
            </a:prstGeom>
          </p:spPr>
        </p:pic>
        <p:pic>
          <p:nvPicPr>
            <p:cNvPr id="4" name="Picture 3"/>
            <p:cNvPicPr/>
            <p:nvPr/>
          </p:nvPicPr>
          <p:blipFill>
            <a:blip r:embed="rId3"/>
            <a:stretch>
              <a:fillRect/>
            </a:stretch>
          </p:blipFill>
          <p:spPr>
            <a:xfrm>
              <a:off x="4810" y="7288"/>
              <a:ext cx="1418" cy="1390"/>
            </a:xfrm>
            <a:prstGeom prst="rect">
              <a:avLst/>
            </a:prstGeom>
          </p:spPr>
        </p:pic>
        <p:pic>
          <p:nvPicPr>
            <p:cNvPr id="5" name="Picture 4"/>
            <p:cNvPicPr/>
            <p:nvPr/>
          </p:nvPicPr>
          <p:blipFill>
            <a:blip r:embed="rId4"/>
            <a:stretch>
              <a:fillRect/>
            </a:stretch>
          </p:blipFill>
          <p:spPr>
            <a:xfrm>
              <a:off x="8015" y="6692"/>
              <a:ext cx="2493" cy="2110"/>
            </a:xfrm>
            <a:prstGeom prst="rect">
              <a:avLst/>
            </a:prstGeom>
          </p:spPr>
        </p:pic>
        <p:pic>
          <p:nvPicPr>
            <p:cNvPr id="6" name="Picture 5"/>
            <p:cNvPicPr/>
            <p:nvPr/>
          </p:nvPicPr>
          <p:blipFill>
            <a:blip r:embed="rId5"/>
            <a:srcRect l="16802" r="-3036"/>
            <a:stretch>
              <a:fillRect/>
            </a:stretch>
          </p:blipFill>
          <p:spPr>
            <a:xfrm>
              <a:off x="990" y="6960"/>
              <a:ext cx="2033" cy="1732"/>
            </a:xfrm>
            <a:prstGeom prst="rect">
              <a:avLst/>
            </a:prstGeom>
          </p:spPr>
        </p:pic>
        <p:pic>
          <p:nvPicPr>
            <p:cNvPr id="7" name="Picture 6"/>
            <p:cNvPicPr/>
            <p:nvPr/>
          </p:nvPicPr>
          <p:blipFill>
            <a:blip r:embed="rId6"/>
            <a:stretch>
              <a:fillRect/>
            </a:stretch>
          </p:blipFill>
          <p:spPr>
            <a:xfrm>
              <a:off x="12295" y="7186"/>
              <a:ext cx="1889" cy="1390"/>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24098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PROPOSED </a:t>
            </a:r>
            <a:r>
              <a:rPr lang="en-IN" altLang="en-US" sz="2000" dirty="0">
                <a:solidFill>
                  <a:schemeClr val="bg1"/>
                </a:solidFill>
              </a:rPr>
              <a:t>SYSTEM</a:t>
            </a:r>
            <a:r>
              <a:rPr lang="en-US" sz="2000" dirty="0">
                <a:solidFill>
                  <a:schemeClr val="bg1"/>
                </a:solidFill>
              </a:rPr>
              <a:t> </a:t>
            </a:r>
          </a:p>
        </p:txBody>
      </p:sp>
      <p:sp>
        <p:nvSpPr>
          <p:cNvPr id="3" name="Text Box 2"/>
          <p:cNvSpPr txBox="1"/>
          <p:nvPr/>
        </p:nvSpPr>
        <p:spPr>
          <a:xfrm>
            <a:off x="1235710" y="1113155"/>
            <a:ext cx="9719945" cy="4748530"/>
          </a:xfrm>
          <a:prstGeom prst="rect">
            <a:avLst/>
          </a:prstGeom>
          <a:noFill/>
        </p:spPr>
        <p:txBody>
          <a:bodyPr wrap="square" rtlCol="0">
            <a:noAutofit/>
          </a:bodyPr>
          <a:lstStyle/>
          <a:p>
            <a:pPr algn="just"/>
            <a:r>
              <a:rPr lang="en-US" sz="2000" dirty="0">
                <a:latin typeface="Times New Roman" panose="02020603050405020304" pitchFamily="18" charset="0"/>
                <a:cs typeface="Times New Roman" panose="02020603050405020304" pitchFamily="18" charset="0"/>
              </a:rPr>
              <a:t>Existing platforms such as Amazon, Flipkart, OLX, and Facebook Marketplace are primarily tailored for large-scale or digitally proficient sellers. Their interfaces are complex, heavily English-dependent, and often require typing skills, product catalog management, and advanced digital literacy. These platforms also lack local discovery features, forcing small home entrepreneurs to rely on word-of-mouth marketing. Payment options are often complicated or require multiple verification steps, making UPI usage difficult for new sellers.</a:t>
            </a:r>
          </a:p>
          <a:p>
            <a:pPr algn="just"/>
            <a:r>
              <a:rPr lang="en-US" sz="2000" dirty="0" err="1">
                <a:latin typeface="Times New Roman" panose="02020603050405020304" pitchFamily="18" charset="0"/>
                <a:cs typeface="Times New Roman" panose="02020603050405020304" pitchFamily="18" charset="0"/>
              </a:rPr>
              <a:t>TinyTrails</a:t>
            </a:r>
            <a:r>
              <a:rPr lang="en-US" sz="2000" dirty="0">
                <a:latin typeface="Times New Roman" panose="02020603050405020304" pitchFamily="18" charset="0"/>
                <a:cs typeface="Times New Roman" panose="02020603050405020304" pitchFamily="18" charset="0"/>
              </a:rPr>
              <a:t>, by contrast, is designed as a simple and inclusive web and mobile marketplace built specifically for home businesses and small vendors. The system supports bilingual Tamil/English product uploads through both text and voice input, enabling effortless listing for non-technical users. Buyers can discover local sellers through </a:t>
            </a:r>
            <a:r>
              <a:rPr lang="en-US" sz="2000" dirty="0" err="1">
                <a:latin typeface="Times New Roman" panose="02020603050405020304" pitchFamily="18" charset="0"/>
                <a:cs typeface="Times New Roman" panose="02020603050405020304" pitchFamily="18" charset="0"/>
              </a:rPr>
              <a:t>pincode</a:t>
            </a:r>
            <a:r>
              <a:rPr lang="en-US" sz="2000" dirty="0">
                <a:latin typeface="Times New Roman" panose="02020603050405020304" pitchFamily="18" charset="0"/>
                <a:cs typeface="Times New Roman" panose="02020603050405020304" pitchFamily="18" charset="0"/>
              </a:rPr>
              <a:t> search, map views, and category filtering, ensuring visibility for nearby home entrepreneurs. Payments are handled through secure UPI integration, making transactions straightforward and trustworthy.</a:t>
            </a:r>
          </a:p>
          <a:p>
            <a:pPr algn="just"/>
            <a:r>
              <a:rPr lang="en-US" sz="2000" dirty="0" err="1">
                <a:latin typeface="Times New Roman" panose="02020603050405020304" pitchFamily="18" charset="0"/>
                <a:cs typeface="Times New Roman" panose="02020603050405020304" pitchFamily="18" charset="0"/>
              </a:rPr>
              <a:t>TinyTrails</a:t>
            </a:r>
            <a:r>
              <a:rPr lang="en-US" sz="2000" dirty="0">
                <a:latin typeface="Times New Roman" panose="02020603050405020304" pitchFamily="18" charset="0"/>
                <a:cs typeface="Times New Roman" panose="02020603050405020304" pitchFamily="18" charset="0"/>
              </a:rPr>
              <a:t> emphasizes accessibility, low-cost adoption, and regional language support, offering a digital platform where small sellers can reach customers without navigating the complexities of mainstream e-commerce. Future enhancements include logistics partnership integration, automated delivery tracking, and AI-driven recommendations that personalize the buyer journey and further strengthen the hyperlocal marketplace ecosystem.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358457"/>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 ARCHITECTURE DIAGRAM</a:t>
            </a:r>
          </a:p>
        </p:txBody>
      </p:sp>
      <p:pic>
        <p:nvPicPr>
          <p:cNvPr id="5" name="Picture 4" descr="Gemini_Generated_Image_1g0pyc1g0pyc1g0p"/>
          <p:cNvPicPr>
            <a:picLocks noChangeAspect="1"/>
          </p:cNvPicPr>
          <p:nvPr/>
        </p:nvPicPr>
        <p:blipFill>
          <a:blip r:embed="rId2"/>
          <a:stretch>
            <a:fillRect/>
          </a:stretch>
        </p:blipFill>
        <p:spPr>
          <a:xfrm>
            <a:off x="3867150" y="1403350"/>
            <a:ext cx="4458970" cy="44589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54480" y="841248"/>
            <a:ext cx="8759952" cy="5367528"/>
          </a:xfrm>
          <a:prstGeom prst="rect">
            <a:avLst/>
          </a:prstGeom>
          <a:solidFill>
            <a:schemeClr val="tx1">
              <a:lumMod val="85000"/>
              <a:lumOff val="1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grpSp>
        <p:nvGrpSpPr>
          <p:cNvPr id="4" name="Group 3"/>
          <p:cNvGrpSpPr/>
          <p:nvPr/>
        </p:nvGrpSpPr>
        <p:grpSpPr>
          <a:xfrm>
            <a:off x="9194434" y="3874594"/>
            <a:ext cx="578644" cy="111442"/>
            <a:chOff x="7432357" y="2927475"/>
            <a:chExt cx="578644" cy="111442"/>
          </a:xfrm>
        </p:grpSpPr>
        <p:sp>
          <p:nvSpPr>
            <p:cNvPr id="5" name="Rounded Rectangle 1"/>
            <p:cNvSpPr/>
            <p:nvPr/>
          </p:nvSpPr>
          <p:spPr>
            <a:xfrm>
              <a:off x="7432357" y="2983196"/>
              <a:ext cx="574357" cy="8572"/>
            </a:xfrm>
            <a:custGeom>
              <a:avLst/>
              <a:gdLst/>
              <a:ahLst/>
              <a:cxnLst/>
              <a:rect l="0" t="0" r="0" b="0"/>
              <a:pathLst>
                <a:path w="574357" h="8572">
                  <a:moveTo>
                    <a:pt x="574357" y="0"/>
                  </a:moveTo>
                  <a:lnTo>
                    <a:pt x="0" y="0"/>
                  </a:lnTo>
                </a:path>
              </a:pathLst>
            </a:custGeom>
            <a:noFill/>
            <a:ln w="12858">
              <a:solidFill>
                <a:srgbClr val="F4F4F4"/>
              </a:solidFill>
            </a:ln>
          </p:spPr>
          <p:txBody>
            <a:bodyPr rtlCol="0" anchor="ctr"/>
            <a:lstStyle/>
            <a:p>
              <a:pPr algn="ctr"/>
              <a:endParaRPr/>
            </a:p>
          </p:txBody>
        </p:sp>
        <p:sp>
          <p:nvSpPr>
            <p:cNvPr id="6" name="Rounded Rectangle 2"/>
            <p:cNvSpPr/>
            <p:nvPr/>
          </p:nvSpPr>
          <p:spPr>
            <a:xfrm>
              <a:off x="7955280" y="2927475"/>
              <a:ext cx="55721" cy="111442"/>
            </a:xfrm>
            <a:custGeom>
              <a:avLst/>
              <a:gdLst/>
              <a:ahLst/>
              <a:cxnLst/>
              <a:rect l="0" t="0" r="0" b="0"/>
              <a:pathLst>
                <a:path w="55721" h="111442">
                  <a:moveTo>
                    <a:pt x="0" y="111442"/>
                  </a:moveTo>
                  <a:lnTo>
                    <a:pt x="55721" y="55721"/>
                  </a:lnTo>
                  <a:lnTo>
                    <a:pt x="0" y="0"/>
                  </a:lnTo>
                </a:path>
              </a:pathLst>
            </a:custGeom>
            <a:noFill/>
            <a:ln w="12858">
              <a:solidFill>
                <a:srgbClr val="F4F4F4"/>
              </a:solidFill>
            </a:ln>
          </p:spPr>
          <p:txBody>
            <a:bodyPr rtlCol="0" anchor="ctr"/>
            <a:lstStyle/>
            <a:p>
              <a:pPr algn="ctr"/>
              <a:endParaRPr/>
            </a:p>
          </p:txBody>
        </p:sp>
      </p:grpSp>
      <p:grpSp>
        <p:nvGrpSpPr>
          <p:cNvPr id="7" name="Group 6"/>
          <p:cNvGrpSpPr/>
          <p:nvPr/>
        </p:nvGrpSpPr>
        <p:grpSpPr>
          <a:xfrm>
            <a:off x="1967817" y="3874594"/>
            <a:ext cx="7162323" cy="111442"/>
            <a:chOff x="205740" y="2927475"/>
            <a:chExt cx="7162323" cy="111442"/>
          </a:xfrm>
        </p:grpSpPr>
        <p:sp>
          <p:nvSpPr>
            <p:cNvPr id="8" name="Rounded Rectangle 4"/>
            <p:cNvSpPr/>
            <p:nvPr/>
          </p:nvSpPr>
          <p:spPr>
            <a:xfrm>
              <a:off x="205740" y="2983196"/>
              <a:ext cx="7158037" cy="8572"/>
            </a:xfrm>
            <a:custGeom>
              <a:avLst/>
              <a:gdLst/>
              <a:ahLst/>
              <a:cxnLst/>
              <a:rect l="0" t="0" r="0" b="0"/>
              <a:pathLst>
                <a:path w="7158037" h="8572">
                  <a:moveTo>
                    <a:pt x="7158037" y="0"/>
                  </a:moveTo>
                  <a:lnTo>
                    <a:pt x="6403657" y="0"/>
                  </a:lnTo>
                  <a:lnTo>
                    <a:pt x="5580697" y="0"/>
                  </a:lnTo>
                  <a:lnTo>
                    <a:pt x="4757737" y="0"/>
                  </a:lnTo>
                  <a:lnTo>
                    <a:pt x="3934777" y="0"/>
                  </a:lnTo>
                  <a:lnTo>
                    <a:pt x="0" y="0"/>
                  </a:lnTo>
                  <a:lnTo>
                    <a:pt x="642937" y="0"/>
                  </a:lnTo>
                  <a:lnTo>
                    <a:pt x="1465897" y="0"/>
                  </a:lnTo>
                  <a:lnTo>
                    <a:pt x="2288857" y="0"/>
                  </a:lnTo>
                  <a:lnTo>
                    <a:pt x="3111817" y="0"/>
                  </a:lnTo>
                </a:path>
              </a:pathLst>
            </a:custGeom>
            <a:noFill/>
            <a:ln w="12858">
              <a:solidFill>
                <a:srgbClr val="F4F4F4"/>
              </a:solidFill>
            </a:ln>
          </p:spPr>
          <p:txBody>
            <a:bodyPr rtlCol="0" anchor="ctr"/>
            <a:lstStyle/>
            <a:p>
              <a:pPr algn="ctr"/>
              <a:endParaRPr/>
            </a:p>
          </p:txBody>
        </p:sp>
        <p:sp>
          <p:nvSpPr>
            <p:cNvPr id="9" name="Rounded Rectangle 5"/>
            <p:cNvSpPr/>
            <p:nvPr/>
          </p:nvSpPr>
          <p:spPr>
            <a:xfrm>
              <a:off x="7312342" y="2927475"/>
              <a:ext cx="55721" cy="111442"/>
            </a:xfrm>
            <a:custGeom>
              <a:avLst/>
              <a:gdLst/>
              <a:ahLst/>
              <a:cxnLst/>
              <a:rect l="0" t="0" r="0" b="0"/>
              <a:pathLst>
                <a:path w="55721" h="111442">
                  <a:moveTo>
                    <a:pt x="0" y="111442"/>
                  </a:moveTo>
                  <a:lnTo>
                    <a:pt x="55721" y="55721"/>
                  </a:lnTo>
                  <a:lnTo>
                    <a:pt x="0" y="0"/>
                  </a:lnTo>
                </a:path>
              </a:pathLst>
            </a:custGeom>
            <a:noFill/>
            <a:ln w="12858">
              <a:solidFill>
                <a:srgbClr val="F4F4F4"/>
              </a:solidFill>
            </a:ln>
          </p:spPr>
          <p:txBody>
            <a:bodyPr rtlCol="0" anchor="ctr"/>
            <a:lstStyle/>
            <a:p>
              <a:pPr algn="ctr"/>
              <a:endParaRPr/>
            </a:p>
          </p:txBody>
        </p:sp>
      </p:grpSp>
      <p:sp>
        <p:nvSpPr>
          <p:cNvPr id="10" name="Rounded Rectangle 7"/>
          <p:cNvSpPr/>
          <p:nvPr/>
        </p:nvSpPr>
        <p:spPr>
          <a:xfrm>
            <a:off x="8860107" y="3107389"/>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82489D"/>
          </a:solidFill>
          <a:ln>
            <a:noFill/>
          </a:ln>
        </p:spPr>
        <p:txBody>
          <a:bodyPr rtlCol="0" anchor="ctr"/>
          <a:lstStyle/>
          <a:p>
            <a:pPr algn="ctr"/>
            <a:endParaRPr/>
          </a:p>
        </p:txBody>
      </p:sp>
      <p:sp>
        <p:nvSpPr>
          <p:cNvPr id="11" name="Rounded Rectangle 8"/>
          <p:cNvSpPr/>
          <p:nvPr/>
        </p:nvSpPr>
        <p:spPr>
          <a:xfrm>
            <a:off x="8860107" y="3107389"/>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12" name="Rounded Rectangle 9"/>
          <p:cNvSpPr/>
          <p:nvPr/>
        </p:nvSpPr>
        <p:spPr>
          <a:xfrm>
            <a:off x="9142999" y="3904598"/>
            <a:ext cx="51435" cy="51435"/>
          </a:xfrm>
          <a:custGeom>
            <a:avLst/>
            <a:gdLst/>
            <a:ahLst/>
            <a:cxnLst/>
            <a:rect l="0" t="0" r="0" b="0"/>
            <a:pathLst>
              <a:path w="51435" h="51435">
                <a:moveTo>
                  <a:pt x="51435" y="25717"/>
                </a:moveTo>
                <a:cubicBezTo>
                  <a:pt x="51435" y="39921"/>
                  <a:pt x="39921" y="51435"/>
                  <a:pt x="25717" y="51435"/>
                </a:cubicBezTo>
                <a:cubicBezTo>
                  <a:pt x="11513" y="51435"/>
                  <a:pt x="0" y="39921"/>
                  <a:pt x="0" y="25717"/>
                </a:cubicBezTo>
                <a:cubicBezTo>
                  <a:pt x="0" y="11513"/>
                  <a:pt x="11513" y="0"/>
                  <a:pt x="25717" y="0"/>
                </a:cubicBezTo>
                <a:cubicBezTo>
                  <a:pt x="39921" y="0"/>
                  <a:pt x="51435" y="11513"/>
                  <a:pt x="51435" y="25717"/>
                </a:cubicBezTo>
                <a:close/>
              </a:path>
            </a:pathLst>
          </a:custGeom>
          <a:noFill/>
          <a:ln w="12858">
            <a:solidFill>
              <a:srgbClr val="F4F4F4"/>
            </a:solidFill>
          </a:ln>
        </p:spPr>
        <p:txBody>
          <a:bodyPr rtlCol="0" anchor="ctr"/>
          <a:lstStyle/>
          <a:p>
            <a:pPr algn="ctr"/>
            <a:endParaRPr/>
          </a:p>
        </p:txBody>
      </p:sp>
      <p:sp>
        <p:nvSpPr>
          <p:cNvPr id="13" name="Rounded Rectangle 10"/>
          <p:cNvSpPr/>
          <p:nvPr/>
        </p:nvSpPr>
        <p:spPr>
          <a:xfrm>
            <a:off x="9168717" y="3720322"/>
            <a:ext cx="8572" cy="184308"/>
          </a:xfrm>
          <a:custGeom>
            <a:avLst/>
            <a:gdLst/>
            <a:ahLst/>
            <a:cxnLst/>
            <a:rect l="0" t="0" r="0" b="0"/>
            <a:pathLst>
              <a:path w="8572" h="184308">
                <a:moveTo>
                  <a:pt x="0" y="0"/>
                </a:moveTo>
                <a:lnTo>
                  <a:pt x="0" y="91725"/>
                </a:lnTo>
                <a:lnTo>
                  <a:pt x="0" y="184308"/>
                </a:lnTo>
              </a:path>
            </a:pathLst>
          </a:custGeom>
          <a:noFill/>
          <a:ln w="12858">
            <a:solidFill>
              <a:srgbClr val="B95CE3"/>
            </a:solidFill>
          </a:ln>
        </p:spPr>
        <p:txBody>
          <a:bodyPr rtlCol="0" anchor="ctr"/>
          <a:lstStyle/>
          <a:p>
            <a:pPr algn="ctr"/>
            <a:endParaRPr/>
          </a:p>
        </p:txBody>
      </p:sp>
      <p:sp>
        <p:nvSpPr>
          <p:cNvPr id="14" name="Rounded Rectangle 11"/>
          <p:cNvSpPr/>
          <p:nvPr/>
        </p:nvSpPr>
        <p:spPr>
          <a:xfrm>
            <a:off x="8037147" y="4136072"/>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914673"/>
          </a:solidFill>
          <a:ln>
            <a:noFill/>
          </a:ln>
        </p:spPr>
        <p:txBody>
          <a:bodyPr rtlCol="0" anchor="ctr"/>
          <a:lstStyle/>
          <a:p>
            <a:pPr algn="ctr"/>
            <a:endParaRPr/>
          </a:p>
        </p:txBody>
      </p:sp>
      <p:sp>
        <p:nvSpPr>
          <p:cNvPr id="15" name="Rounded Rectangle 12"/>
          <p:cNvSpPr/>
          <p:nvPr/>
        </p:nvSpPr>
        <p:spPr>
          <a:xfrm>
            <a:off x="8037147" y="4136072"/>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16" name="Rounded Rectangle 13"/>
          <p:cNvSpPr/>
          <p:nvPr/>
        </p:nvSpPr>
        <p:spPr>
          <a:xfrm>
            <a:off x="8320039" y="3904648"/>
            <a:ext cx="51435" cy="51435"/>
          </a:xfrm>
          <a:custGeom>
            <a:avLst/>
            <a:gdLst/>
            <a:ahLst/>
            <a:cxnLst/>
            <a:rect l="0" t="0" r="0" b="0"/>
            <a:pathLst>
              <a:path w="51435" h="51435">
                <a:moveTo>
                  <a:pt x="0" y="25717"/>
                </a:moveTo>
                <a:cubicBezTo>
                  <a:pt x="0" y="11513"/>
                  <a:pt x="11513" y="0"/>
                  <a:pt x="25717" y="0"/>
                </a:cubicBezTo>
                <a:cubicBezTo>
                  <a:pt x="39921" y="0"/>
                  <a:pt x="51435" y="11513"/>
                  <a:pt x="51435" y="25717"/>
                </a:cubicBezTo>
                <a:cubicBezTo>
                  <a:pt x="51435" y="39921"/>
                  <a:pt x="39921" y="51435"/>
                  <a:pt x="25717" y="51435"/>
                </a:cubicBezTo>
                <a:cubicBezTo>
                  <a:pt x="11513" y="51435"/>
                  <a:pt x="0" y="39921"/>
                  <a:pt x="0" y="25717"/>
                </a:cubicBezTo>
                <a:close/>
              </a:path>
            </a:pathLst>
          </a:custGeom>
          <a:noFill/>
          <a:ln w="12858">
            <a:solidFill>
              <a:srgbClr val="F4F4F4"/>
            </a:solidFill>
          </a:ln>
        </p:spPr>
        <p:txBody>
          <a:bodyPr rtlCol="0" anchor="ctr"/>
          <a:lstStyle/>
          <a:p>
            <a:pPr algn="ctr"/>
            <a:endParaRPr/>
          </a:p>
        </p:txBody>
      </p:sp>
      <p:sp>
        <p:nvSpPr>
          <p:cNvPr id="17" name="Rounded Rectangle 14"/>
          <p:cNvSpPr/>
          <p:nvPr/>
        </p:nvSpPr>
        <p:spPr>
          <a:xfrm>
            <a:off x="8345757" y="3956083"/>
            <a:ext cx="8572" cy="180022"/>
          </a:xfrm>
          <a:custGeom>
            <a:avLst/>
            <a:gdLst/>
            <a:ahLst/>
            <a:cxnLst/>
            <a:rect l="0" t="0" r="0" b="0"/>
            <a:pathLst>
              <a:path w="8572" h="180022">
                <a:moveTo>
                  <a:pt x="0" y="180022"/>
                </a:moveTo>
                <a:lnTo>
                  <a:pt x="0" y="90011"/>
                </a:lnTo>
                <a:lnTo>
                  <a:pt x="0" y="0"/>
                </a:lnTo>
              </a:path>
            </a:pathLst>
          </a:custGeom>
          <a:noFill/>
          <a:ln w="12858">
            <a:solidFill>
              <a:srgbClr val="DD57A8"/>
            </a:solidFill>
          </a:ln>
        </p:spPr>
        <p:txBody>
          <a:bodyPr rtlCol="0" anchor="ctr"/>
          <a:lstStyle/>
          <a:p>
            <a:pPr algn="ctr"/>
            <a:endParaRPr/>
          </a:p>
        </p:txBody>
      </p:sp>
      <p:sp>
        <p:nvSpPr>
          <p:cNvPr id="18" name="Rounded Rectangle 15"/>
          <p:cNvSpPr/>
          <p:nvPr/>
        </p:nvSpPr>
        <p:spPr>
          <a:xfrm>
            <a:off x="7214187" y="3107389"/>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954643"/>
          </a:solidFill>
          <a:ln>
            <a:noFill/>
          </a:ln>
        </p:spPr>
        <p:txBody>
          <a:bodyPr rtlCol="0" anchor="ctr"/>
          <a:lstStyle/>
          <a:p>
            <a:pPr algn="ctr"/>
            <a:endParaRPr/>
          </a:p>
        </p:txBody>
      </p:sp>
      <p:sp>
        <p:nvSpPr>
          <p:cNvPr id="19" name="Rounded Rectangle 16"/>
          <p:cNvSpPr/>
          <p:nvPr/>
        </p:nvSpPr>
        <p:spPr>
          <a:xfrm>
            <a:off x="7214187" y="3107389"/>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20" name="Rounded Rectangle 17"/>
          <p:cNvSpPr/>
          <p:nvPr/>
        </p:nvSpPr>
        <p:spPr>
          <a:xfrm>
            <a:off x="7497079" y="3904598"/>
            <a:ext cx="51435" cy="51435"/>
          </a:xfrm>
          <a:custGeom>
            <a:avLst/>
            <a:gdLst/>
            <a:ahLst/>
            <a:cxnLst/>
            <a:rect l="0" t="0" r="0" b="0"/>
            <a:pathLst>
              <a:path w="51435" h="51435">
                <a:moveTo>
                  <a:pt x="51435" y="25717"/>
                </a:moveTo>
                <a:cubicBezTo>
                  <a:pt x="51435" y="39921"/>
                  <a:pt x="39921" y="51435"/>
                  <a:pt x="25717" y="51435"/>
                </a:cubicBezTo>
                <a:cubicBezTo>
                  <a:pt x="11513" y="51435"/>
                  <a:pt x="0" y="39921"/>
                  <a:pt x="0" y="25717"/>
                </a:cubicBezTo>
                <a:cubicBezTo>
                  <a:pt x="0" y="11513"/>
                  <a:pt x="11513" y="0"/>
                  <a:pt x="25717" y="0"/>
                </a:cubicBezTo>
                <a:cubicBezTo>
                  <a:pt x="39921" y="0"/>
                  <a:pt x="51435" y="11513"/>
                  <a:pt x="51435" y="25717"/>
                </a:cubicBezTo>
                <a:close/>
              </a:path>
            </a:pathLst>
          </a:custGeom>
          <a:noFill/>
          <a:ln w="12858">
            <a:solidFill>
              <a:srgbClr val="F4F4F4"/>
            </a:solidFill>
          </a:ln>
        </p:spPr>
        <p:txBody>
          <a:bodyPr rtlCol="0" anchor="ctr"/>
          <a:lstStyle/>
          <a:p>
            <a:pPr algn="ctr"/>
            <a:endParaRPr/>
          </a:p>
        </p:txBody>
      </p:sp>
      <p:sp>
        <p:nvSpPr>
          <p:cNvPr id="21" name="Rounded Rectangle 18"/>
          <p:cNvSpPr/>
          <p:nvPr/>
        </p:nvSpPr>
        <p:spPr>
          <a:xfrm>
            <a:off x="7522797" y="3724609"/>
            <a:ext cx="8572" cy="180022"/>
          </a:xfrm>
          <a:custGeom>
            <a:avLst/>
            <a:gdLst/>
            <a:ahLst/>
            <a:cxnLst/>
            <a:rect l="0" t="0" r="0" b="0"/>
            <a:pathLst>
              <a:path w="8572" h="180022">
                <a:moveTo>
                  <a:pt x="0" y="0"/>
                </a:moveTo>
                <a:lnTo>
                  <a:pt x="0" y="90011"/>
                </a:lnTo>
                <a:lnTo>
                  <a:pt x="0" y="180022"/>
                </a:lnTo>
              </a:path>
            </a:pathLst>
          </a:custGeom>
          <a:noFill/>
          <a:ln w="12858">
            <a:solidFill>
              <a:srgbClr val="E45752"/>
            </a:solidFill>
          </a:ln>
        </p:spPr>
        <p:txBody>
          <a:bodyPr rtlCol="0" anchor="ctr"/>
          <a:lstStyle/>
          <a:p>
            <a:pPr algn="ctr"/>
            <a:endParaRPr/>
          </a:p>
        </p:txBody>
      </p:sp>
      <p:sp>
        <p:nvSpPr>
          <p:cNvPr id="22" name="Rounded Rectangle 19"/>
          <p:cNvSpPr/>
          <p:nvPr/>
        </p:nvSpPr>
        <p:spPr>
          <a:xfrm>
            <a:off x="6391227" y="4136072"/>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815D3B"/>
          </a:solidFill>
          <a:ln>
            <a:noFill/>
          </a:ln>
        </p:spPr>
        <p:txBody>
          <a:bodyPr rtlCol="0" anchor="ctr"/>
          <a:lstStyle/>
          <a:p>
            <a:pPr algn="ctr"/>
            <a:endParaRPr/>
          </a:p>
        </p:txBody>
      </p:sp>
      <p:sp>
        <p:nvSpPr>
          <p:cNvPr id="23" name="Rounded Rectangle 20"/>
          <p:cNvSpPr/>
          <p:nvPr/>
        </p:nvSpPr>
        <p:spPr>
          <a:xfrm>
            <a:off x="6391227" y="4136072"/>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24" name="Rounded Rectangle 21"/>
          <p:cNvSpPr/>
          <p:nvPr/>
        </p:nvSpPr>
        <p:spPr>
          <a:xfrm>
            <a:off x="6674119" y="3904648"/>
            <a:ext cx="51435" cy="51435"/>
          </a:xfrm>
          <a:custGeom>
            <a:avLst/>
            <a:gdLst/>
            <a:ahLst/>
            <a:cxnLst/>
            <a:rect l="0" t="0" r="0" b="0"/>
            <a:pathLst>
              <a:path w="51435" h="51435">
                <a:moveTo>
                  <a:pt x="0" y="25717"/>
                </a:moveTo>
                <a:cubicBezTo>
                  <a:pt x="0" y="11513"/>
                  <a:pt x="11513" y="0"/>
                  <a:pt x="25717" y="0"/>
                </a:cubicBezTo>
                <a:cubicBezTo>
                  <a:pt x="39921" y="0"/>
                  <a:pt x="51435" y="11513"/>
                  <a:pt x="51435" y="25717"/>
                </a:cubicBezTo>
                <a:cubicBezTo>
                  <a:pt x="51435" y="39921"/>
                  <a:pt x="39921" y="51435"/>
                  <a:pt x="25717" y="51435"/>
                </a:cubicBezTo>
                <a:cubicBezTo>
                  <a:pt x="11513" y="51435"/>
                  <a:pt x="0" y="39921"/>
                  <a:pt x="0" y="25717"/>
                </a:cubicBezTo>
                <a:close/>
              </a:path>
            </a:pathLst>
          </a:custGeom>
          <a:noFill/>
          <a:ln w="12858">
            <a:solidFill>
              <a:srgbClr val="F4F4F4"/>
            </a:solidFill>
          </a:ln>
        </p:spPr>
        <p:txBody>
          <a:bodyPr rtlCol="0" anchor="ctr"/>
          <a:lstStyle/>
          <a:p>
            <a:pPr algn="ctr"/>
            <a:endParaRPr/>
          </a:p>
        </p:txBody>
      </p:sp>
      <p:sp>
        <p:nvSpPr>
          <p:cNvPr id="25" name="Rounded Rectangle 22"/>
          <p:cNvSpPr/>
          <p:nvPr/>
        </p:nvSpPr>
        <p:spPr>
          <a:xfrm>
            <a:off x="6699837" y="3956083"/>
            <a:ext cx="8572" cy="180022"/>
          </a:xfrm>
          <a:custGeom>
            <a:avLst/>
            <a:gdLst/>
            <a:ahLst/>
            <a:cxnLst/>
            <a:rect l="0" t="0" r="0" b="0"/>
            <a:pathLst>
              <a:path w="8572" h="180022">
                <a:moveTo>
                  <a:pt x="0" y="180022"/>
                </a:moveTo>
                <a:lnTo>
                  <a:pt x="0" y="90011"/>
                </a:lnTo>
                <a:lnTo>
                  <a:pt x="0" y="0"/>
                </a:lnTo>
              </a:path>
            </a:pathLst>
          </a:custGeom>
          <a:noFill/>
          <a:ln w="12858">
            <a:solidFill>
              <a:srgbClr val="DE8431"/>
            </a:solidFill>
          </a:ln>
        </p:spPr>
        <p:txBody>
          <a:bodyPr rtlCol="0" anchor="ctr"/>
          <a:lstStyle/>
          <a:p>
            <a:pPr algn="ctr"/>
            <a:endParaRPr/>
          </a:p>
        </p:txBody>
      </p:sp>
      <p:sp>
        <p:nvSpPr>
          <p:cNvPr id="26" name="Rounded Rectangle 23"/>
          <p:cNvSpPr/>
          <p:nvPr/>
        </p:nvSpPr>
        <p:spPr>
          <a:xfrm>
            <a:off x="5568267" y="3107389"/>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776F30"/>
          </a:solidFill>
          <a:ln>
            <a:noFill/>
          </a:ln>
        </p:spPr>
        <p:txBody>
          <a:bodyPr rtlCol="0" anchor="ctr"/>
          <a:lstStyle/>
          <a:p>
            <a:pPr algn="ctr"/>
            <a:endParaRPr/>
          </a:p>
        </p:txBody>
      </p:sp>
      <p:sp>
        <p:nvSpPr>
          <p:cNvPr id="27" name="Rounded Rectangle 24"/>
          <p:cNvSpPr/>
          <p:nvPr/>
        </p:nvSpPr>
        <p:spPr>
          <a:xfrm>
            <a:off x="5568267" y="3107389"/>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28" name="Rounded Rectangle 25"/>
          <p:cNvSpPr/>
          <p:nvPr/>
        </p:nvSpPr>
        <p:spPr>
          <a:xfrm>
            <a:off x="5851159" y="3904598"/>
            <a:ext cx="51435" cy="51435"/>
          </a:xfrm>
          <a:custGeom>
            <a:avLst/>
            <a:gdLst/>
            <a:ahLst/>
            <a:cxnLst/>
            <a:rect l="0" t="0" r="0" b="0"/>
            <a:pathLst>
              <a:path w="51435" h="51435">
                <a:moveTo>
                  <a:pt x="51435" y="25717"/>
                </a:moveTo>
                <a:cubicBezTo>
                  <a:pt x="51435" y="39921"/>
                  <a:pt x="39921" y="51435"/>
                  <a:pt x="25717" y="51435"/>
                </a:cubicBezTo>
                <a:cubicBezTo>
                  <a:pt x="11513" y="51435"/>
                  <a:pt x="0" y="39921"/>
                  <a:pt x="0" y="25717"/>
                </a:cubicBezTo>
                <a:cubicBezTo>
                  <a:pt x="0" y="11513"/>
                  <a:pt x="11513" y="0"/>
                  <a:pt x="25717" y="0"/>
                </a:cubicBezTo>
                <a:cubicBezTo>
                  <a:pt x="39921" y="0"/>
                  <a:pt x="51435" y="11513"/>
                  <a:pt x="51435" y="25717"/>
                </a:cubicBezTo>
                <a:close/>
              </a:path>
            </a:pathLst>
          </a:custGeom>
          <a:noFill/>
          <a:ln w="12858">
            <a:solidFill>
              <a:srgbClr val="F4F4F4"/>
            </a:solidFill>
          </a:ln>
        </p:spPr>
        <p:txBody>
          <a:bodyPr rtlCol="0" anchor="ctr"/>
          <a:lstStyle/>
          <a:p>
            <a:pPr algn="ctr"/>
            <a:endParaRPr/>
          </a:p>
        </p:txBody>
      </p:sp>
      <p:sp>
        <p:nvSpPr>
          <p:cNvPr id="29" name="Rounded Rectangle 26"/>
          <p:cNvSpPr/>
          <p:nvPr/>
        </p:nvSpPr>
        <p:spPr>
          <a:xfrm>
            <a:off x="5876877" y="3724609"/>
            <a:ext cx="8572" cy="180022"/>
          </a:xfrm>
          <a:custGeom>
            <a:avLst/>
            <a:gdLst/>
            <a:ahLst/>
            <a:cxnLst/>
            <a:rect l="0" t="0" r="0" b="0"/>
            <a:pathLst>
              <a:path w="8572" h="180022">
                <a:moveTo>
                  <a:pt x="0" y="0"/>
                </a:moveTo>
                <a:lnTo>
                  <a:pt x="0" y="90011"/>
                </a:lnTo>
                <a:lnTo>
                  <a:pt x="0" y="180022"/>
                </a:lnTo>
              </a:path>
            </a:pathLst>
          </a:custGeom>
          <a:noFill/>
          <a:ln w="12858">
            <a:solidFill>
              <a:srgbClr val="EFD80D"/>
            </a:solidFill>
          </a:ln>
        </p:spPr>
        <p:txBody>
          <a:bodyPr rtlCol="0" anchor="ctr"/>
          <a:lstStyle/>
          <a:p>
            <a:pPr algn="ctr"/>
            <a:endParaRPr/>
          </a:p>
        </p:txBody>
      </p:sp>
      <p:sp>
        <p:nvSpPr>
          <p:cNvPr id="30" name="Rounded Rectangle 27"/>
          <p:cNvSpPr/>
          <p:nvPr/>
        </p:nvSpPr>
        <p:spPr>
          <a:xfrm>
            <a:off x="4745307" y="4136072"/>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60703F"/>
          </a:solidFill>
          <a:ln>
            <a:noFill/>
          </a:ln>
        </p:spPr>
        <p:txBody>
          <a:bodyPr rtlCol="0" anchor="ctr"/>
          <a:lstStyle/>
          <a:p>
            <a:pPr algn="ctr"/>
            <a:endParaRPr/>
          </a:p>
        </p:txBody>
      </p:sp>
      <p:sp>
        <p:nvSpPr>
          <p:cNvPr id="31" name="Rounded Rectangle 28"/>
          <p:cNvSpPr/>
          <p:nvPr/>
        </p:nvSpPr>
        <p:spPr>
          <a:xfrm>
            <a:off x="4745307" y="4136072"/>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32" name="Rounded Rectangle 29"/>
          <p:cNvSpPr/>
          <p:nvPr/>
        </p:nvSpPr>
        <p:spPr>
          <a:xfrm>
            <a:off x="5028199" y="3904648"/>
            <a:ext cx="51435" cy="51435"/>
          </a:xfrm>
          <a:custGeom>
            <a:avLst/>
            <a:gdLst/>
            <a:ahLst/>
            <a:cxnLst/>
            <a:rect l="0" t="0" r="0" b="0"/>
            <a:pathLst>
              <a:path w="51435" h="51435">
                <a:moveTo>
                  <a:pt x="0" y="25717"/>
                </a:moveTo>
                <a:cubicBezTo>
                  <a:pt x="0" y="11513"/>
                  <a:pt x="11513" y="0"/>
                  <a:pt x="25717" y="0"/>
                </a:cubicBezTo>
                <a:cubicBezTo>
                  <a:pt x="39921" y="0"/>
                  <a:pt x="51435" y="11513"/>
                  <a:pt x="51435" y="25717"/>
                </a:cubicBezTo>
                <a:cubicBezTo>
                  <a:pt x="51435" y="39921"/>
                  <a:pt x="39921" y="51435"/>
                  <a:pt x="25717" y="51435"/>
                </a:cubicBezTo>
                <a:cubicBezTo>
                  <a:pt x="11513" y="51435"/>
                  <a:pt x="0" y="39921"/>
                  <a:pt x="0" y="25717"/>
                </a:cubicBezTo>
                <a:close/>
              </a:path>
            </a:pathLst>
          </a:custGeom>
          <a:noFill/>
          <a:ln w="12858">
            <a:solidFill>
              <a:srgbClr val="F4F4F4"/>
            </a:solidFill>
          </a:ln>
        </p:spPr>
        <p:txBody>
          <a:bodyPr rtlCol="0" anchor="ctr"/>
          <a:lstStyle/>
          <a:p>
            <a:pPr algn="ctr"/>
            <a:endParaRPr/>
          </a:p>
        </p:txBody>
      </p:sp>
      <p:sp>
        <p:nvSpPr>
          <p:cNvPr id="33" name="Rounded Rectangle 30"/>
          <p:cNvSpPr/>
          <p:nvPr/>
        </p:nvSpPr>
        <p:spPr>
          <a:xfrm>
            <a:off x="5053917" y="3956083"/>
            <a:ext cx="8572" cy="180022"/>
          </a:xfrm>
          <a:custGeom>
            <a:avLst/>
            <a:gdLst/>
            <a:ahLst/>
            <a:cxnLst/>
            <a:rect l="0" t="0" r="0" b="0"/>
            <a:pathLst>
              <a:path w="8572" h="180022">
                <a:moveTo>
                  <a:pt x="0" y="180022"/>
                </a:moveTo>
                <a:lnTo>
                  <a:pt x="0" y="90011"/>
                </a:lnTo>
                <a:lnTo>
                  <a:pt x="0" y="0"/>
                </a:lnTo>
              </a:path>
            </a:pathLst>
          </a:custGeom>
          <a:noFill/>
          <a:ln w="12858">
            <a:solidFill>
              <a:srgbClr val="91BB39"/>
            </a:solidFill>
          </a:ln>
        </p:spPr>
        <p:txBody>
          <a:bodyPr rtlCol="0" anchor="ctr"/>
          <a:lstStyle/>
          <a:p>
            <a:pPr algn="ctr"/>
            <a:endParaRPr/>
          </a:p>
        </p:txBody>
      </p:sp>
      <p:sp>
        <p:nvSpPr>
          <p:cNvPr id="34" name="Rounded Rectangle 31"/>
          <p:cNvSpPr/>
          <p:nvPr/>
        </p:nvSpPr>
        <p:spPr>
          <a:xfrm>
            <a:off x="3922347" y="3107389"/>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41735B"/>
          </a:solidFill>
          <a:ln>
            <a:noFill/>
          </a:ln>
        </p:spPr>
        <p:txBody>
          <a:bodyPr rtlCol="0" anchor="ctr"/>
          <a:lstStyle/>
          <a:p>
            <a:pPr algn="ctr"/>
            <a:endParaRPr/>
          </a:p>
        </p:txBody>
      </p:sp>
      <p:sp>
        <p:nvSpPr>
          <p:cNvPr id="35" name="Rounded Rectangle 32"/>
          <p:cNvSpPr/>
          <p:nvPr/>
        </p:nvSpPr>
        <p:spPr>
          <a:xfrm>
            <a:off x="3922347" y="3107389"/>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36" name="Rounded Rectangle 33"/>
          <p:cNvSpPr/>
          <p:nvPr/>
        </p:nvSpPr>
        <p:spPr>
          <a:xfrm>
            <a:off x="4205239" y="3904598"/>
            <a:ext cx="51435" cy="51435"/>
          </a:xfrm>
          <a:custGeom>
            <a:avLst/>
            <a:gdLst/>
            <a:ahLst/>
            <a:cxnLst/>
            <a:rect l="0" t="0" r="0" b="0"/>
            <a:pathLst>
              <a:path w="51435" h="51435">
                <a:moveTo>
                  <a:pt x="51435" y="25717"/>
                </a:moveTo>
                <a:cubicBezTo>
                  <a:pt x="51435" y="39921"/>
                  <a:pt x="39921" y="51435"/>
                  <a:pt x="25717" y="51435"/>
                </a:cubicBezTo>
                <a:cubicBezTo>
                  <a:pt x="11513" y="51435"/>
                  <a:pt x="0" y="39921"/>
                  <a:pt x="0" y="25717"/>
                </a:cubicBezTo>
                <a:cubicBezTo>
                  <a:pt x="0" y="11513"/>
                  <a:pt x="11513" y="0"/>
                  <a:pt x="25717" y="0"/>
                </a:cubicBezTo>
                <a:cubicBezTo>
                  <a:pt x="39921" y="0"/>
                  <a:pt x="51435" y="11513"/>
                  <a:pt x="51435" y="25717"/>
                </a:cubicBezTo>
                <a:close/>
              </a:path>
            </a:pathLst>
          </a:custGeom>
          <a:noFill/>
          <a:ln w="12858">
            <a:solidFill>
              <a:srgbClr val="F4F4F4"/>
            </a:solidFill>
          </a:ln>
        </p:spPr>
        <p:txBody>
          <a:bodyPr rtlCol="0" anchor="ctr"/>
          <a:lstStyle/>
          <a:p>
            <a:pPr algn="ctr"/>
            <a:endParaRPr/>
          </a:p>
        </p:txBody>
      </p:sp>
      <p:sp>
        <p:nvSpPr>
          <p:cNvPr id="37" name="Rounded Rectangle 34"/>
          <p:cNvSpPr/>
          <p:nvPr/>
        </p:nvSpPr>
        <p:spPr>
          <a:xfrm>
            <a:off x="4230957" y="3724609"/>
            <a:ext cx="8572" cy="180022"/>
          </a:xfrm>
          <a:custGeom>
            <a:avLst/>
            <a:gdLst/>
            <a:ahLst/>
            <a:cxnLst/>
            <a:rect l="0" t="0" r="0" b="0"/>
            <a:pathLst>
              <a:path w="8572" h="180022">
                <a:moveTo>
                  <a:pt x="0" y="0"/>
                </a:moveTo>
                <a:lnTo>
                  <a:pt x="0" y="90011"/>
                </a:lnTo>
                <a:lnTo>
                  <a:pt x="0" y="180022"/>
                </a:lnTo>
              </a:path>
            </a:pathLst>
          </a:custGeom>
          <a:noFill/>
          <a:ln w="12858">
            <a:solidFill>
              <a:srgbClr val="3BC482"/>
            </a:solidFill>
          </a:ln>
        </p:spPr>
        <p:txBody>
          <a:bodyPr rtlCol="0" anchor="ctr"/>
          <a:lstStyle/>
          <a:p>
            <a:pPr algn="ctr"/>
            <a:endParaRPr/>
          </a:p>
        </p:txBody>
      </p:sp>
      <p:sp>
        <p:nvSpPr>
          <p:cNvPr id="38" name="Rounded Rectangle 35"/>
          <p:cNvSpPr/>
          <p:nvPr/>
        </p:nvSpPr>
        <p:spPr>
          <a:xfrm>
            <a:off x="3099387" y="4136089"/>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346778"/>
          </a:solidFill>
          <a:ln>
            <a:noFill/>
          </a:ln>
        </p:spPr>
        <p:txBody>
          <a:bodyPr rtlCol="0" anchor="ctr"/>
          <a:lstStyle/>
          <a:p>
            <a:pPr algn="ctr"/>
            <a:endParaRPr/>
          </a:p>
        </p:txBody>
      </p:sp>
      <p:sp>
        <p:nvSpPr>
          <p:cNvPr id="39" name="Rounded Rectangle 36"/>
          <p:cNvSpPr/>
          <p:nvPr/>
        </p:nvSpPr>
        <p:spPr>
          <a:xfrm>
            <a:off x="3099387" y="4136089"/>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40" name="Rounded Rectangle 37"/>
          <p:cNvSpPr/>
          <p:nvPr/>
        </p:nvSpPr>
        <p:spPr>
          <a:xfrm>
            <a:off x="3382279" y="3904648"/>
            <a:ext cx="51435" cy="51435"/>
          </a:xfrm>
          <a:custGeom>
            <a:avLst/>
            <a:gdLst/>
            <a:ahLst/>
            <a:cxnLst/>
            <a:rect l="0" t="0" r="0" b="0"/>
            <a:pathLst>
              <a:path w="51435" h="51435">
                <a:moveTo>
                  <a:pt x="0" y="25717"/>
                </a:moveTo>
                <a:cubicBezTo>
                  <a:pt x="0" y="11513"/>
                  <a:pt x="11513" y="0"/>
                  <a:pt x="25717" y="0"/>
                </a:cubicBezTo>
                <a:cubicBezTo>
                  <a:pt x="39921" y="0"/>
                  <a:pt x="51435" y="11513"/>
                  <a:pt x="51435" y="25717"/>
                </a:cubicBezTo>
                <a:cubicBezTo>
                  <a:pt x="51435" y="39921"/>
                  <a:pt x="39921" y="51435"/>
                  <a:pt x="25717" y="51435"/>
                </a:cubicBezTo>
                <a:cubicBezTo>
                  <a:pt x="11513" y="51435"/>
                  <a:pt x="0" y="39921"/>
                  <a:pt x="0" y="25717"/>
                </a:cubicBezTo>
                <a:close/>
              </a:path>
            </a:pathLst>
          </a:custGeom>
          <a:noFill/>
          <a:ln w="12858">
            <a:solidFill>
              <a:srgbClr val="F4F4F4"/>
            </a:solidFill>
          </a:ln>
        </p:spPr>
        <p:txBody>
          <a:bodyPr rtlCol="0" anchor="ctr"/>
          <a:lstStyle/>
          <a:p>
            <a:pPr algn="ctr"/>
            <a:endParaRPr/>
          </a:p>
        </p:txBody>
      </p:sp>
      <p:sp>
        <p:nvSpPr>
          <p:cNvPr id="41" name="Rounded Rectangle 38"/>
          <p:cNvSpPr/>
          <p:nvPr/>
        </p:nvSpPr>
        <p:spPr>
          <a:xfrm>
            <a:off x="3407997" y="3956083"/>
            <a:ext cx="8572" cy="180022"/>
          </a:xfrm>
          <a:custGeom>
            <a:avLst/>
            <a:gdLst/>
            <a:ahLst/>
            <a:cxnLst/>
            <a:rect l="0" t="0" r="0" b="0"/>
            <a:pathLst>
              <a:path w="8572" h="180022">
                <a:moveTo>
                  <a:pt x="0" y="180022"/>
                </a:moveTo>
                <a:lnTo>
                  <a:pt x="0" y="90011"/>
                </a:lnTo>
                <a:lnTo>
                  <a:pt x="0" y="0"/>
                </a:lnTo>
              </a:path>
            </a:pathLst>
          </a:custGeom>
          <a:noFill/>
          <a:ln w="12858">
            <a:solidFill>
              <a:srgbClr val="1FA9D7"/>
            </a:solidFill>
          </a:ln>
        </p:spPr>
        <p:txBody>
          <a:bodyPr rtlCol="0" anchor="ctr"/>
          <a:lstStyle/>
          <a:p>
            <a:pPr algn="ctr"/>
            <a:endParaRPr/>
          </a:p>
        </p:txBody>
      </p:sp>
      <p:sp>
        <p:nvSpPr>
          <p:cNvPr id="42" name="Rounded Rectangle 39"/>
          <p:cNvSpPr/>
          <p:nvPr/>
        </p:nvSpPr>
        <p:spPr>
          <a:xfrm>
            <a:off x="2276427" y="3107389"/>
            <a:ext cx="617220" cy="617220"/>
          </a:xfrm>
          <a:custGeom>
            <a:avLst/>
            <a:gdLst/>
            <a:ahLst/>
            <a:cxnLst/>
            <a:rect l="0" t="0" r="0" b="0"/>
            <a:pathLst>
              <a:path w="617220" h="617220">
                <a:moveTo>
                  <a:pt x="0" y="308610"/>
                </a:moveTo>
                <a:cubicBezTo>
                  <a:pt x="0" y="479048"/>
                  <a:pt x="138171" y="617220"/>
                  <a:pt x="308610" y="617220"/>
                </a:cubicBezTo>
                <a:cubicBezTo>
                  <a:pt x="479048" y="617220"/>
                  <a:pt x="617220" y="479048"/>
                  <a:pt x="617220" y="308610"/>
                </a:cubicBezTo>
                <a:cubicBezTo>
                  <a:pt x="617220" y="138171"/>
                  <a:pt x="479048" y="0"/>
                  <a:pt x="308610" y="0"/>
                </a:cubicBezTo>
                <a:cubicBezTo>
                  <a:pt x="138171" y="0"/>
                  <a:pt x="0" y="138171"/>
                  <a:pt x="0" y="308610"/>
                </a:cubicBezTo>
              </a:path>
            </a:pathLst>
          </a:custGeom>
          <a:solidFill>
            <a:srgbClr val="426397"/>
          </a:solidFill>
          <a:ln>
            <a:noFill/>
          </a:ln>
        </p:spPr>
        <p:txBody>
          <a:bodyPr rtlCol="0" anchor="ctr"/>
          <a:lstStyle/>
          <a:p>
            <a:pPr algn="ctr"/>
            <a:endParaRPr/>
          </a:p>
        </p:txBody>
      </p:sp>
      <p:sp>
        <p:nvSpPr>
          <p:cNvPr id="43" name="Rounded Rectangle 40"/>
          <p:cNvSpPr/>
          <p:nvPr/>
        </p:nvSpPr>
        <p:spPr>
          <a:xfrm>
            <a:off x="2276427" y="3107389"/>
            <a:ext cx="617220" cy="617220"/>
          </a:xfrm>
          <a:custGeom>
            <a:avLst/>
            <a:gdLst/>
            <a:ahLst/>
            <a:cxnLst/>
            <a:rect l="0" t="0" r="0" b="0"/>
            <a:pathLst>
              <a:path w="617220" h="617220">
                <a:moveTo>
                  <a:pt x="0" y="308610"/>
                </a:moveTo>
                <a:cubicBezTo>
                  <a:pt x="0" y="479050"/>
                  <a:pt x="138169" y="617220"/>
                  <a:pt x="308610" y="617220"/>
                </a:cubicBezTo>
                <a:cubicBezTo>
                  <a:pt x="479050" y="617220"/>
                  <a:pt x="617220" y="479050"/>
                  <a:pt x="617220" y="308610"/>
                </a:cubicBezTo>
                <a:cubicBezTo>
                  <a:pt x="617220" y="138169"/>
                  <a:pt x="479050" y="0"/>
                  <a:pt x="308610" y="0"/>
                </a:cubicBezTo>
                <a:cubicBezTo>
                  <a:pt x="138169" y="0"/>
                  <a:pt x="0" y="138169"/>
                  <a:pt x="0" y="308610"/>
                </a:cubicBezTo>
              </a:path>
            </a:pathLst>
          </a:custGeom>
          <a:noFill/>
          <a:ln w="12858">
            <a:solidFill>
              <a:srgbClr val="2C2C2C"/>
            </a:solidFill>
          </a:ln>
        </p:spPr>
        <p:txBody>
          <a:bodyPr rtlCol="0" anchor="ctr"/>
          <a:lstStyle/>
          <a:p>
            <a:pPr algn="ctr"/>
            <a:endParaRPr/>
          </a:p>
        </p:txBody>
      </p:sp>
      <p:sp>
        <p:nvSpPr>
          <p:cNvPr id="44" name="Rounded Rectangle 41"/>
          <p:cNvSpPr/>
          <p:nvPr/>
        </p:nvSpPr>
        <p:spPr>
          <a:xfrm>
            <a:off x="2559319" y="3904598"/>
            <a:ext cx="51435" cy="51435"/>
          </a:xfrm>
          <a:custGeom>
            <a:avLst/>
            <a:gdLst/>
            <a:ahLst/>
            <a:cxnLst/>
            <a:rect l="0" t="0" r="0" b="0"/>
            <a:pathLst>
              <a:path w="51435" h="51435">
                <a:moveTo>
                  <a:pt x="51435" y="25717"/>
                </a:moveTo>
                <a:cubicBezTo>
                  <a:pt x="51435" y="39921"/>
                  <a:pt x="39921" y="51435"/>
                  <a:pt x="25717" y="51435"/>
                </a:cubicBezTo>
                <a:cubicBezTo>
                  <a:pt x="11513" y="51435"/>
                  <a:pt x="0" y="39921"/>
                  <a:pt x="0" y="25717"/>
                </a:cubicBezTo>
                <a:cubicBezTo>
                  <a:pt x="0" y="11513"/>
                  <a:pt x="11513" y="0"/>
                  <a:pt x="25717" y="0"/>
                </a:cubicBezTo>
                <a:cubicBezTo>
                  <a:pt x="39921" y="0"/>
                  <a:pt x="51435" y="11513"/>
                  <a:pt x="51435" y="25717"/>
                </a:cubicBezTo>
                <a:close/>
              </a:path>
            </a:pathLst>
          </a:custGeom>
          <a:noFill/>
          <a:ln w="12858">
            <a:solidFill>
              <a:srgbClr val="F4F4F4"/>
            </a:solidFill>
          </a:ln>
        </p:spPr>
        <p:txBody>
          <a:bodyPr rtlCol="0" anchor="ctr"/>
          <a:lstStyle/>
          <a:p>
            <a:pPr algn="ctr"/>
            <a:endParaRPr/>
          </a:p>
        </p:txBody>
      </p:sp>
      <p:sp>
        <p:nvSpPr>
          <p:cNvPr id="45" name="Rounded Rectangle 42"/>
          <p:cNvSpPr/>
          <p:nvPr/>
        </p:nvSpPr>
        <p:spPr>
          <a:xfrm>
            <a:off x="2585037" y="3724609"/>
            <a:ext cx="8572" cy="180022"/>
          </a:xfrm>
          <a:custGeom>
            <a:avLst/>
            <a:gdLst/>
            <a:ahLst/>
            <a:cxnLst/>
            <a:rect l="0" t="0" r="0" b="0"/>
            <a:pathLst>
              <a:path w="8572" h="180022">
                <a:moveTo>
                  <a:pt x="0" y="0"/>
                </a:moveTo>
                <a:lnTo>
                  <a:pt x="0" y="90011"/>
                </a:lnTo>
                <a:lnTo>
                  <a:pt x="0" y="180022"/>
                </a:lnTo>
              </a:path>
            </a:pathLst>
          </a:custGeom>
          <a:noFill/>
          <a:ln w="12858">
            <a:solidFill>
              <a:srgbClr val="4E88E6"/>
            </a:solidFill>
          </a:ln>
        </p:spPr>
        <p:txBody>
          <a:bodyPr rtlCol="0" anchor="ctr"/>
          <a:lstStyle/>
          <a:p>
            <a:pPr algn="ctr"/>
            <a:endParaRPr/>
          </a:p>
        </p:txBody>
      </p:sp>
      <p:sp>
        <p:nvSpPr>
          <p:cNvPr id="46" name="TextBox 45"/>
          <p:cNvSpPr txBox="1"/>
          <p:nvPr/>
        </p:nvSpPr>
        <p:spPr>
          <a:xfrm>
            <a:off x="4387686" y="1416034"/>
            <a:ext cx="2978379" cy="246221"/>
          </a:xfrm>
          <a:prstGeom prst="rect">
            <a:avLst/>
          </a:prstGeom>
          <a:noFill/>
          <a:ln>
            <a:noFill/>
          </a:ln>
        </p:spPr>
        <p:txBody>
          <a:bodyPr wrap="none" lIns="0" tIns="0" rIns="0" bIns="0" anchor="t">
            <a:spAutoFit/>
          </a:bodyPr>
          <a:lstStyle/>
          <a:p>
            <a:pPr algn="ctr"/>
            <a:r>
              <a:rPr sz="1600" b="1" dirty="0">
                <a:solidFill>
                  <a:srgbClr val="F4F4F4"/>
                </a:solidFill>
                <a:latin typeface="Times New Roman" panose="02020603050405020304" pitchFamily="18" charset="0"/>
                <a:cs typeface="Times New Roman" panose="02020603050405020304" pitchFamily="18" charset="0"/>
              </a:rPr>
              <a:t>Tiny Trail Order Processing Flow</a:t>
            </a:r>
          </a:p>
        </p:txBody>
      </p:sp>
      <p:sp>
        <p:nvSpPr>
          <p:cNvPr id="47" name="TextBox 46"/>
          <p:cNvSpPr txBox="1"/>
          <p:nvPr/>
        </p:nvSpPr>
        <p:spPr>
          <a:xfrm>
            <a:off x="5356745" y="2623900"/>
            <a:ext cx="1040348" cy="400110"/>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Backend Stores
Order Details</a:t>
            </a:r>
          </a:p>
        </p:txBody>
      </p:sp>
      <p:sp>
        <p:nvSpPr>
          <p:cNvPr id="48" name="TextBox 47"/>
          <p:cNvSpPr txBox="1"/>
          <p:nvPr/>
        </p:nvSpPr>
        <p:spPr>
          <a:xfrm>
            <a:off x="7207814" y="2418160"/>
            <a:ext cx="629980" cy="600164"/>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Seller
Confirms
Order</a:t>
            </a:r>
          </a:p>
        </p:txBody>
      </p:sp>
      <p:sp>
        <p:nvSpPr>
          <p:cNvPr id="49" name="TextBox 48"/>
          <p:cNvSpPr txBox="1"/>
          <p:nvPr/>
        </p:nvSpPr>
        <p:spPr>
          <a:xfrm>
            <a:off x="7871245" y="4887040"/>
            <a:ext cx="948978" cy="600164"/>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Tiny Trail
Generates
Delivery Task</a:t>
            </a:r>
          </a:p>
        </p:txBody>
      </p:sp>
      <p:sp>
        <p:nvSpPr>
          <p:cNvPr id="50" name="TextBox 49"/>
          <p:cNvSpPr txBox="1"/>
          <p:nvPr/>
        </p:nvSpPr>
        <p:spPr>
          <a:xfrm>
            <a:off x="2120979" y="2623900"/>
            <a:ext cx="928139" cy="400110"/>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User Browses
Products</a:t>
            </a:r>
          </a:p>
        </p:txBody>
      </p:sp>
      <p:sp>
        <p:nvSpPr>
          <p:cNvPr id="51" name="TextBox 50"/>
          <p:cNvSpPr txBox="1"/>
          <p:nvPr/>
        </p:nvSpPr>
        <p:spPr>
          <a:xfrm>
            <a:off x="8749531" y="2418160"/>
            <a:ext cx="838371" cy="600164"/>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Order Status
Updated to
Delivered</a:t>
            </a:r>
          </a:p>
        </p:txBody>
      </p:sp>
      <p:sp>
        <p:nvSpPr>
          <p:cNvPr id="52" name="TextBox 51"/>
          <p:cNvSpPr txBox="1"/>
          <p:nvPr/>
        </p:nvSpPr>
        <p:spPr>
          <a:xfrm>
            <a:off x="3054555" y="4887040"/>
            <a:ext cx="706925" cy="600164"/>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User Adds
Product to
Cart</a:t>
            </a:r>
          </a:p>
        </p:txBody>
      </p:sp>
      <p:sp>
        <p:nvSpPr>
          <p:cNvPr id="53" name="TextBox 52"/>
          <p:cNvSpPr txBox="1"/>
          <p:nvPr/>
        </p:nvSpPr>
        <p:spPr>
          <a:xfrm>
            <a:off x="4561837" y="4887040"/>
            <a:ext cx="984244" cy="400110"/>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Backend
Validates User</a:t>
            </a:r>
          </a:p>
        </p:txBody>
      </p:sp>
      <p:sp>
        <p:nvSpPr>
          <p:cNvPr id="54" name="TextBox 53"/>
          <p:cNvSpPr txBox="1"/>
          <p:nvPr/>
        </p:nvSpPr>
        <p:spPr>
          <a:xfrm>
            <a:off x="6215707" y="4887040"/>
            <a:ext cx="968214" cy="400110"/>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Backend
Notifies Seller</a:t>
            </a:r>
          </a:p>
        </p:txBody>
      </p:sp>
      <p:sp>
        <p:nvSpPr>
          <p:cNvPr id="55" name="TextBox 54"/>
          <p:cNvSpPr txBox="1"/>
          <p:nvPr/>
        </p:nvSpPr>
        <p:spPr>
          <a:xfrm>
            <a:off x="3709993" y="2623900"/>
            <a:ext cx="1041952" cy="400110"/>
          </a:xfrm>
          <a:prstGeom prst="rect">
            <a:avLst/>
          </a:prstGeom>
          <a:noFill/>
          <a:ln>
            <a:noFill/>
          </a:ln>
        </p:spPr>
        <p:txBody>
          <a:bodyPr wrap="none" lIns="0" tIns="0" rIns="0" bIns="0" anchor="t">
            <a:spAutoFit/>
          </a:bodyPr>
          <a:lstStyle/>
          <a:p>
            <a:pPr algn="ctr"/>
            <a:r>
              <a:rPr sz="1300" b="0" dirty="0">
                <a:solidFill>
                  <a:srgbClr val="F4F4F4"/>
                </a:solidFill>
                <a:latin typeface="Times New Roman" panose="02020603050405020304" pitchFamily="18" charset="0"/>
                <a:cs typeface="Times New Roman" panose="02020603050405020304" pitchFamily="18" charset="0"/>
              </a:rPr>
              <a:t>Frontend Sends
API Request</a:t>
            </a:r>
          </a:p>
        </p:txBody>
      </p:sp>
      <p:sp>
        <p:nvSpPr>
          <p:cNvPr id="56" name="Rounded Rectangle 53"/>
          <p:cNvSpPr/>
          <p:nvPr/>
        </p:nvSpPr>
        <p:spPr>
          <a:xfrm>
            <a:off x="2387869" y="3253121"/>
            <a:ext cx="394335" cy="325755"/>
          </a:xfrm>
          <a:custGeom>
            <a:avLst/>
            <a:gdLst/>
            <a:ahLst/>
            <a:cxnLst/>
            <a:rect l="0" t="0" r="0" b="0"/>
            <a:pathLst>
              <a:path w="394335" h="325755">
                <a:moveTo>
                  <a:pt x="102870" y="265061"/>
                </a:moveTo>
                <a:lnTo>
                  <a:pt x="102870" y="170764"/>
                </a:lnTo>
                <a:cubicBezTo>
                  <a:pt x="102870" y="151826"/>
                  <a:pt x="118222" y="136474"/>
                  <a:pt x="137160" y="136474"/>
                </a:cubicBezTo>
                <a:cubicBezTo>
                  <a:pt x="156097" y="136474"/>
                  <a:pt x="171450" y="151826"/>
                  <a:pt x="171450" y="170764"/>
                </a:cubicBezTo>
                <a:lnTo>
                  <a:pt x="171450" y="265061"/>
                </a:lnTo>
                <a:moveTo>
                  <a:pt x="102870" y="213626"/>
                </a:moveTo>
                <a:lnTo>
                  <a:pt x="171450" y="213626"/>
                </a:lnTo>
                <a:moveTo>
                  <a:pt x="222885" y="136474"/>
                </a:moveTo>
                <a:lnTo>
                  <a:pt x="222885" y="265061"/>
                </a:lnTo>
                <a:lnTo>
                  <a:pt x="248602" y="265061"/>
                </a:lnTo>
                <a:cubicBezTo>
                  <a:pt x="267540" y="265061"/>
                  <a:pt x="282892" y="249709"/>
                  <a:pt x="282892" y="230771"/>
                </a:cubicBezTo>
                <a:lnTo>
                  <a:pt x="282892" y="170764"/>
                </a:lnTo>
                <a:cubicBezTo>
                  <a:pt x="282892" y="151826"/>
                  <a:pt x="267540" y="136474"/>
                  <a:pt x="248602" y="136474"/>
                </a:cubicBezTo>
                <a:close/>
                <a:moveTo>
                  <a:pt x="34290" y="0"/>
                </a:moveTo>
                <a:lnTo>
                  <a:pt x="360045" y="0"/>
                </a:lnTo>
                <a:cubicBezTo>
                  <a:pt x="360045" y="0"/>
                  <a:pt x="394335" y="0"/>
                  <a:pt x="394335" y="34290"/>
                </a:cubicBezTo>
                <a:lnTo>
                  <a:pt x="394335" y="291465"/>
                </a:lnTo>
                <a:cubicBezTo>
                  <a:pt x="394335" y="291465"/>
                  <a:pt x="394335" y="325755"/>
                  <a:pt x="360045" y="325755"/>
                </a:cubicBezTo>
                <a:lnTo>
                  <a:pt x="34290" y="325755"/>
                </a:lnTo>
                <a:cubicBezTo>
                  <a:pt x="34290" y="325755"/>
                  <a:pt x="0" y="325755"/>
                  <a:pt x="0" y="291465"/>
                </a:cubicBezTo>
                <a:lnTo>
                  <a:pt x="0" y="34290"/>
                </a:lnTo>
                <a:cubicBezTo>
                  <a:pt x="0" y="34290"/>
                  <a:pt x="0" y="0"/>
                  <a:pt x="34290" y="0"/>
                </a:cubicBezTo>
                <a:moveTo>
                  <a:pt x="0" y="85725"/>
                </a:moveTo>
                <a:lnTo>
                  <a:pt x="394335" y="85725"/>
                </a:lnTo>
                <a:moveTo>
                  <a:pt x="60007" y="38576"/>
                </a:moveTo>
                <a:cubicBezTo>
                  <a:pt x="57640" y="38576"/>
                  <a:pt x="55721" y="40495"/>
                  <a:pt x="55721" y="42862"/>
                </a:cubicBezTo>
                <a:cubicBezTo>
                  <a:pt x="55721" y="45229"/>
                  <a:pt x="57640" y="47148"/>
                  <a:pt x="60007" y="47148"/>
                </a:cubicBezTo>
                <a:cubicBezTo>
                  <a:pt x="62374" y="47148"/>
                  <a:pt x="64293" y="45229"/>
                  <a:pt x="64293" y="42862"/>
                </a:cubicBezTo>
                <a:cubicBezTo>
                  <a:pt x="64293" y="40495"/>
                  <a:pt x="62374" y="38576"/>
                  <a:pt x="60007" y="38576"/>
                </a:cubicBezTo>
                <a:moveTo>
                  <a:pt x="111442" y="38576"/>
                </a:moveTo>
                <a:cubicBezTo>
                  <a:pt x="109075" y="38576"/>
                  <a:pt x="107156" y="40495"/>
                  <a:pt x="107156" y="42862"/>
                </a:cubicBezTo>
                <a:cubicBezTo>
                  <a:pt x="107156" y="45229"/>
                  <a:pt x="109075" y="47148"/>
                  <a:pt x="111442" y="47148"/>
                </a:cubicBezTo>
                <a:cubicBezTo>
                  <a:pt x="113809" y="47148"/>
                  <a:pt x="115728" y="45229"/>
                  <a:pt x="115728" y="42862"/>
                </a:cubicBezTo>
                <a:cubicBezTo>
                  <a:pt x="115728" y="40495"/>
                  <a:pt x="113809" y="38576"/>
                  <a:pt x="111442" y="38576"/>
                </a:cubicBezTo>
                <a:moveTo>
                  <a:pt x="162877" y="38576"/>
                </a:moveTo>
                <a:cubicBezTo>
                  <a:pt x="160510" y="38576"/>
                  <a:pt x="158591" y="40495"/>
                  <a:pt x="158591" y="42862"/>
                </a:cubicBezTo>
                <a:cubicBezTo>
                  <a:pt x="158591" y="45229"/>
                  <a:pt x="160510" y="47148"/>
                  <a:pt x="162877" y="47148"/>
                </a:cubicBezTo>
                <a:cubicBezTo>
                  <a:pt x="165244" y="47148"/>
                  <a:pt x="167163" y="45229"/>
                  <a:pt x="167163" y="42862"/>
                </a:cubicBezTo>
                <a:cubicBezTo>
                  <a:pt x="167163" y="40495"/>
                  <a:pt x="165244" y="38576"/>
                  <a:pt x="162877" y="38576"/>
                </a:cubicBezTo>
              </a:path>
            </a:pathLst>
          </a:custGeom>
          <a:noFill/>
          <a:ln w="12858">
            <a:solidFill>
              <a:srgbClr val="4F91FC"/>
            </a:solidFill>
          </a:ln>
        </p:spPr>
        <p:txBody>
          <a:bodyPr rtlCol="0" anchor="ctr"/>
          <a:lstStyle/>
          <a:p>
            <a:pPr algn="ctr"/>
            <a:endParaRPr/>
          </a:p>
        </p:txBody>
      </p:sp>
      <p:sp>
        <p:nvSpPr>
          <p:cNvPr id="57" name="Rounded Rectangle 54"/>
          <p:cNvSpPr/>
          <p:nvPr/>
        </p:nvSpPr>
        <p:spPr>
          <a:xfrm>
            <a:off x="4025217" y="3210259"/>
            <a:ext cx="398809" cy="400472"/>
          </a:xfrm>
          <a:custGeom>
            <a:avLst/>
            <a:gdLst/>
            <a:ahLst/>
            <a:cxnLst/>
            <a:rect l="0" t="0" r="0" b="0"/>
            <a:pathLst>
              <a:path w="398809" h="400472">
                <a:moveTo>
                  <a:pt x="93628" y="306209"/>
                </a:moveTo>
                <a:cubicBezTo>
                  <a:pt x="111048" y="337289"/>
                  <a:pt x="144000" y="356426"/>
                  <a:pt x="179628" y="356153"/>
                </a:cubicBezTo>
                <a:lnTo>
                  <a:pt x="216112" y="356153"/>
                </a:lnTo>
                <a:moveTo>
                  <a:pt x="0" y="0"/>
                </a:moveTo>
                <a:moveTo>
                  <a:pt x="185251" y="400472"/>
                </a:moveTo>
                <a:lnTo>
                  <a:pt x="220587" y="355175"/>
                </a:lnTo>
                <a:lnTo>
                  <a:pt x="186160" y="312639"/>
                </a:lnTo>
                <a:moveTo>
                  <a:pt x="398638" y="106298"/>
                </a:moveTo>
                <a:cubicBezTo>
                  <a:pt x="381387" y="74632"/>
                  <a:pt x="348098" y="55038"/>
                  <a:pt x="312038" y="55326"/>
                </a:cubicBezTo>
                <a:lnTo>
                  <a:pt x="275571" y="55326"/>
                </a:lnTo>
                <a:moveTo>
                  <a:pt x="0" y="0"/>
                </a:moveTo>
                <a:moveTo>
                  <a:pt x="306432" y="11007"/>
                </a:moveTo>
                <a:lnTo>
                  <a:pt x="271079" y="56304"/>
                </a:lnTo>
                <a:lnTo>
                  <a:pt x="305523" y="98840"/>
                </a:lnTo>
                <a:moveTo>
                  <a:pt x="317319" y="360867"/>
                </a:moveTo>
                <a:cubicBezTo>
                  <a:pt x="326455" y="372869"/>
                  <a:pt x="340876" y="379654"/>
                  <a:pt x="355947" y="379041"/>
                </a:cubicBezTo>
                <a:cubicBezTo>
                  <a:pt x="379590" y="379041"/>
                  <a:pt x="398809" y="364639"/>
                  <a:pt x="398809" y="346894"/>
                </a:cubicBezTo>
                <a:cubicBezTo>
                  <a:pt x="398809" y="329149"/>
                  <a:pt x="379607" y="314765"/>
                  <a:pt x="355947" y="314765"/>
                </a:cubicBezTo>
                <a:cubicBezTo>
                  <a:pt x="332287" y="314765"/>
                  <a:pt x="313084" y="300363"/>
                  <a:pt x="313084" y="282532"/>
                </a:cubicBezTo>
                <a:cubicBezTo>
                  <a:pt x="313084" y="264701"/>
                  <a:pt x="332287" y="250385"/>
                  <a:pt x="355947" y="250385"/>
                </a:cubicBezTo>
                <a:cubicBezTo>
                  <a:pt x="371011" y="249800"/>
                  <a:pt x="385417" y="256587"/>
                  <a:pt x="394557" y="268576"/>
                </a:cubicBezTo>
                <a:moveTo>
                  <a:pt x="355947" y="379041"/>
                </a:moveTo>
                <a:lnTo>
                  <a:pt x="355947" y="400472"/>
                </a:lnTo>
                <a:moveTo>
                  <a:pt x="355947" y="229022"/>
                </a:moveTo>
                <a:lnTo>
                  <a:pt x="355947" y="250454"/>
                </a:lnTo>
                <a:moveTo>
                  <a:pt x="23797" y="181359"/>
                </a:moveTo>
                <a:lnTo>
                  <a:pt x="36450" y="206117"/>
                </a:lnTo>
                <a:cubicBezTo>
                  <a:pt x="42315" y="217580"/>
                  <a:pt x="54108" y="224791"/>
                  <a:pt x="66985" y="224788"/>
                </a:cubicBezTo>
                <a:lnTo>
                  <a:pt x="213918" y="224788"/>
                </a:lnTo>
                <a:cubicBezTo>
                  <a:pt x="226788" y="224785"/>
                  <a:pt x="238573" y="217574"/>
                  <a:pt x="244436" y="206117"/>
                </a:cubicBezTo>
                <a:lnTo>
                  <a:pt x="257175" y="181359"/>
                </a:lnTo>
                <a:moveTo>
                  <a:pt x="12687" y="181359"/>
                </a:moveTo>
                <a:lnTo>
                  <a:pt x="268216" y="181359"/>
                </a:lnTo>
                <a:moveTo>
                  <a:pt x="123786" y="64705"/>
                </a:moveTo>
                <a:cubicBezTo>
                  <a:pt x="123785" y="73910"/>
                  <a:pt x="131246" y="81373"/>
                  <a:pt x="140451" y="81373"/>
                </a:cubicBezTo>
                <a:cubicBezTo>
                  <a:pt x="149656" y="81373"/>
                  <a:pt x="157118" y="73910"/>
                  <a:pt x="157116" y="64705"/>
                </a:cubicBezTo>
                <a:cubicBezTo>
                  <a:pt x="157118" y="55500"/>
                  <a:pt x="149656" y="48037"/>
                  <a:pt x="140451" y="48037"/>
                </a:cubicBezTo>
                <a:cubicBezTo>
                  <a:pt x="131246" y="48037"/>
                  <a:pt x="123785" y="55500"/>
                  <a:pt x="123786" y="64705"/>
                </a:cubicBezTo>
                <a:moveTo>
                  <a:pt x="40462" y="181359"/>
                </a:moveTo>
                <a:cubicBezTo>
                  <a:pt x="40462" y="126137"/>
                  <a:pt x="85229" y="81370"/>
                  <a:pt x="140451" y="81370"/>
                </a:cubicBezTo>
                <a:cubicBezTo>
                  <a:pt x="195674" y="81370"/>
                  <a:pt x="240441" y="126137"/>
                  <a:pt x="240441" y="181359"/>
                </a:cubicBezTo>
              </a:path>
            </a:pathLst>
          </a:custGeom>
          <a:noFill/>
          <a:ln w="12858">
            <a:solidFill>
              <a:srgbClr val="43DD93"/>
            </a:solidFill>
          </a:ln>
        </p:spPr>
        <p:txBody>
          <a:bodyPr rtlCol="0" anchor="ctr"/>
          <a:lstStyle/>
          <a:p>
            <a:pPr algn="ctr"/>
            <a:endParaRPr/>
          </a:p>
        </p:txBody>
      </p:sp>
      <p:sp>
        <p:nvSpPr>
          <p:cNvPr id="58" name="Rounded Rectangle 55"/>
          <p:cNvSpPr/>
          <p:nvPr/>
        </p:nvSpPr>
        <p:spPr>
          <a:xfrm>
            <a:off x="8962977" y="3210259"/>
            <a:ext cx="401450" cy="387477"/>
          </a:xfrm>
          <a:custGeom>
            <a:avLst/>
            <a:gdLst/>
            <a:ahLst/>
            <a:cxnLst/>
            <a:rect l="0" t="0" r="0" b="0"/>
            <a:pathLst>
              <a:path w="401450" h="387477">
                <a:moveTo>
                  <a:pt x="0" y="0"/>
                </a:moveTo>
                <a:moveTo>
                  <a:pt x="356615" y="387477"/>
                </a:moveTo>
                <a:lnTo>
                  <a:pt x="304992" y="356924"/>
                </a:lnTo>
                <a:cubicBezTo>
                  <a:pt x="295750" y="350301"/>
                  <a:pt x="291092" y="338988"/>
                  <a:pt x="292990" y="327778"/>
                </a:cubicBezTo>
                <a:lnTo>
                  <a:pt x="292990" y="295922"/>
                </a:lnTo>
                <a:lnTo>
                  <a:pt x="273634" y="276617"/>
                </a:lnTo>
                <a:cubicBezTo>
                  <a:pt x="264610" y="267586"/>
                  <a:pt x="264610" y="252952"/>
                  <a:pt x="273634" y="243921"/>
                </a:cubicBezTo>
                <a:cubicBezTo>
                  <a:pt x="274709" y="242844"/>
                  <a:pt x="275886" y="241874"/>
                  <a:pt x="277148" y="241024"/>
                </a:cubicBezTo>
                <a:lnTo>
                  <a:pt x="277148" y="241024"/>
                </a:lnTo>
                <a:cubicBezTo>
                  <a:pt x="286319" y="234945"/>
                  <a:pt x="298501" y="236156"/>
                  <a:pt x="306295" y="243921"/>
                </a:cubicBezTo>
                <a:lnTo>
                  <a:pt x="333487" y="271131"/>
                </a:lnTo>
                <a:moveTo>
                  <a:pt x="305986" y="153482"/>
                </a:moveTo>
                <a:lnTo>
                  <a:pt x="369834" y="210060"/>
                </a:lnTo>
                <a:cubicBezTo>
                  <a:pt x="379348" y="223364"/>
                  <a:pt x="384461" y="239310"/>
                  <a:pt x="384459" y="255666"/>
                </a:cubicBezTo>
                <a:lnTo>
                  <a:pt x="384459" y="293693"/>
                </a:lnTo>
                <a:cubicBezTo>
                  <a:pt x="384443" y="304614"/>
                  <a:pt x="388759" y="315096"/>
                  <a:pt x="396460" y="322840"/>
                </a:cubicBezTo>
                <a:lnTo>
                  <a:pt x="401450" y="327812"/>
                </a:lnTo>
                <a:moveTo>
                  <a:pt x="77992" y="271131"/>
                </a:moveTo>
                <a:lnTo>
                  <a:pt x="105184" y="243921"/>
                </a:lnTo>
                <a:cubicBezTo>
                  <a:pt x="112978" y="236156"/>
                  <a:pt x="125160" y="234945"/>
                  <a:pt x="134331" y="241024"/>
                </a:cubicBezTo>
                <a:lnTo>
                  <a:pt x="134331" y="241024"/>
                </a:lnTo>
                <a:cubicBezTo>
                  <a:pt x="135593" y="241874"/>
                  <a:pt x="136770" y="242844"/>
                  <a:pt x="137845" y="243921"/>
                </a:cubicBezTo>
                <a:cubicBezTo>
                  <a:pt x="146869" y="252952"/>
                  <a:pt x="146869" y="267586"/>
                  <a:pt x="137845" y="276617"/>
                </a:cubicBezTo>
                <a:lnTo>
                  <a:pt x="118557" y="295922"/>
                </a:lnTo>
                <a:lnTo>
                  <a:pt x="118557" y="327709"/>
                </a:lnTo>
                <a:cubicBezTo>
                  <a:pt x="120456" y="338920"/>
                  <a:pt x="115798" y="350232"/>
                  <a:pt x="106556" y="356856"/>
                </a:cubicBezTo>
                <a:lnTo>
                  <a:pt x="54863" y="387477"/>
                </a:lnTo>
                <a:moveTo>
                  <a:pt x="9978" y="327709"/>
                </a:moveTo>
                <a:lnTo>
                  <a:pt x="14967" y="322737"/>
                </a:lnTo>
                <a:cubicBezTo>
                  <a:pt x="22668" y="314993"/>
                  <a:pt x="26984" y="304512"/>
                  <a:pt x="26969" y="293590"/>
                </a:cubicBezTo>
                <a:lnTo>
                  <a:pt x="26969" y="255580"/>
                </a:lnTo>
                <a:cubicBezTo>
                  <a:pt x="26966" y="239225"/>
                  <a:pt x="32080" y="223278"/>
                  <a:pt x="41593" y="209974"/>
                </a:cubicBezTo>
                <a:lnTo>
                  <a:pt x="105493" y="153482"/>
                </a:lnTo>
                <a:moveTo>
                  <a:pt x="306381" y="243921"/>
                </a:moveTo>
                <a:lnTo>
                  <a:pt x="306381" y="72008"/>
                </a:lnTo>
                <a:cubicBezTo>
                  <a:pt x="306371" y="64788"/>
                  <a:pt x="300520" y="58936"/>
                  <a:pt x="293299" y="58927"/>
                </a:cubicBezTo>
                <a:lnTo>
                  <a:pt x="240990" y="58927"/>
                </a:lnTo>
                <a:cubicBezTo>
                  <a:pt x="240990" y="39667"/>
                  <a:pt x="225376" y="24054"/>
                  <a:pt x="206117" y="24054"/>
                </a:cubicBezTo>
                <a:cubicBezTo>
                  <a:pt x="186857" y="24054"/>
                  <a:pt x="171244" y="39667"/>
                  <a:pt x="171244" y="58927"/>
                </a:cubicBezTo>
                <a:lnTo>
                  <a:pt x="118952" y="58927"/>
                </a:lnTo>
                <a:cubicBezTo>
                  <a:pt x="111727" y="58927"/>
                  <a:pt x="105870" y="64784"/>
                  <a:pt x="105870" y="72009"/>
                </a:cubicBezTo>
                <a:lnTo>
                  <a:pt x="105870" y="243921"/>
                </a:lnTo>
                <a:moveTo>
                  <a:pt x="118952" y="326389"/>
                </a:moveTo>
                <a:lnTo>
                  <a:pt x="293299" y="326389"/>
                </a:lnTo>
                <a:moveTo>
                  <a:pt x="140194" y="113551"/>
                </a:moveTo>
                <a:lnTo>
                  <a:pt x="195744" y="113551"/>
                </a:lnTo>
                <a:moveTo>
                  <a:pt x="256952" y="113551"/>
                </a:moveTo>
                <a:lnTo>
                  <a:pt x="272965" y="113551"/>
                </a:lnTo>
                <a:moveTo>
                  <a:pt x="140194" y="153567"/>
                </a:moveTo>
                <a:lnTo>
                  <a:pt x="195744" y="153567"/>
                </a:lnTo>
                <a:moveTo>
                  <a:pt x="256952" y="153567"/>
                </a:moveTo>
                <a:lnTo>
                  <a:pt x="272965" y="153567"/>
                </a:lnTo>
                <a:moveTo>
                  <a:pt x="140194" y="203013"/>
                </a:moveTo>
                <a:lnTo>
                  <a:pt x="195744" y="203013"/>
                </a:lnTo>
                <a:moveTo>
                  <a:pt x="256952" y="203013"/>
                </a:moveTo>
                <a:lnTo>
                  <a:pt x="272965" y="203013"/>
                </a:lnTo>
              </a:path>
            </a:pathLst>
          </a:custGeom>
          <a:noFill/>
          <a:ln w="12858">
            <a:solidFill>
              <a:srgbClr val="CB68F9"/>
            </a:solidFill>
          </a:ln>
        </p:spPr>
        <p:txBody>
          <a:bodyPr rtlCol="0" anchor="ctr"/>
          <a:lstStyle/>
          <a:p>
            <a:pPr algn="ctr"/>
            <a:endParaRPr/>
          </a:p>
        </p:txBody>
      </p:sp>
      <p:sp>
        <p:nvSpPr>
          <p:cNvPr id="59" name="Rounded Rectangle 56"/>
          <p:cNvSpPr/>
          <p:nvPr/>
        </p:nvSpPr>
        <p:spPr>
          <a:xfrm>
            <a:off x="5679709" y="3218831"/>
            <a:ext cx="394335" cy="394335"/>
          </a:xfrm>
          <a:custGeom>
            <a:avLst/>
            <a:gdLst/>
            <a:ahLst/>
            <a:cxnLst/>
            <a:rect l="0" t="0" r="0" b="0"/>
            <a:pathLst>
              <a:path w="394335" h="394335">
                <a:moveTo>
                  <a:pt x="25717" y="240030"/>
                </a:moveTo>
                <a:lnTo>
                  <a:pt x="25717" y="394335"/>
                </a:lnTo>
                <a:moveTo>
                  <a:pt x="94297" y="240030"/>
                </a:moveTo>
                <a:lnTo>
                  <a:pt x="94297" y="394335"/>
                </a:lnTo>
                <a:moveTo>
                  <a:pt x="180022" y="240030"/>
                </a:moveTo>
                <a:lnTo>
                  <a:pt x="180022" y="394335"/>
                </a:lnTo>
                <a:moveTo>
                  <a:pt x="265747" y="240030"/>
                </a:moveTo>
                <a:lnTo>
                  <a:pt x="265747" y="394335"/>
                </a:lnTo>
                <a:moveTo>
                  <a:pt x="334327" y="240030"/>
                </a:moveTo>
                <a:lnTo>
                  <a:pt x="334327" y="394335"/>
                </a:lnTo>
                <a:moveTo>
                  <a:pt x="137160" y="240030"/>
                </a:moveTo>
                <a:lnTo>
                  <a:pt x="137160" y="394335"/>
                </a:lnTo>
                <a:moveTo>
                  <a:pt x="334327" y="137160"/>
                </a:moveTo>
                <a:lnTo>
                  <a:pt x="334327" y="0"/>
                </a:lnTo>
                <a:moveTo>
                  <a:pt x="265747" y="137160"/>
                </a:moveTo>
                <a:lnTo>
                  <a:pt x="265747" y="0"/>
                </a:lnTo>
                <a:moveTo>
                  <a:pt x="137160" y="137160"/>
                </a:moveTo>
                <a:lnTo>
                  <a:pt x="137160" y="0"/>
                </a:lnTo>
                <a:moveTo>
                  <a:pt x="94297" y="137160"/>
                </a:moveTo>
                <a:lnTo>
                  <a:pt x="94297" y="0"/>
                </a:lnTo>
                <a:moveTo>
                  <a:pt x="25717" y="137160"/>
                </a:moveTo>
                <a:lnTo>
                  <a:pt x="25717" y="0"/>
                </a:lnTo>
                <a:moveTo>
                  <a:pt x="377190" y="240030"/>
                </a:moveTo>
                <a:lnTo>
                  <a:pt x="377190" y="394335"/>
                </a:lnTo>
                <a:moveTo>
                  <a:pt x="377190" y="137160"/>
                </a:moveTo>
                <a:lnTo>
                  <a:pt x="377190" y="0"/>
                </a:lnTo>
                <a:moveTo>
                  <a:pt x="180022" y="137160"/>
                </a:moveTo>
                <a:lnTo>
                  <a:pt x="180022" y="0"/>
                </a:lnTo>
                <a:moveTo>
                  <a:pt x="222885" y="240030"/>
                </a:moveTo>
                <a:lnTo>
                  <a:pt x="222885" y="394335"/>
                </a:lnTo>
                <a:moveTo>
                  <a:pt x="222885" y="137160"/>
                </a:moveTo>
                <a:lnTo>
                  <a:pt x="222885" y="0"/>
                </a:lnTo>
                <a:moveTo>
                  <a:pt x="0" y="188595"/>
                </a:moveTo>
                <a:lnTo>
                  <a:pt x="394335" y="188595"/>
                </a:lnTo>
              </a:path>
            </a:pathLst>
          </a:custGeom>
          <a:noFill/>
          <a:ln w="12858">
            <a:solidFill>
              <a:srgbClr val="FFE711"/>
            </a:solidFill>
          </a:ln>
        </p:spPr>
        <p:txBody>
          <a:bodyPr rtlCol="0" anchor="ctr"/>
          <a:lstStyle/>
          <a:p>
            <a:pPr algn="ctr"/>
            <a:endParaRPr/>
          </a:p>
        </p:txBody>
      </p:sp>
      <p:sp>
        <p:nvSpPr>
          <p:cNvPr id="60" name="Rounded Rectangle 57"/>
          <p:cNvSpPr/>
          <p:nvPr/>
        </p:nvSpPr>
        <p:spPr>
          <a:xfrm>
            <a:off x="3210829" y="4247526"/>
            <a:ext cx="394352" cy="394339"/>
          </a:xfrm>
          <a:custGeom>
            <a:avLst/>
            <a:gdLst/>
            <a:ahLst/>
            <a:cxnLst/>
            <a:rect l="0" t="0" r="0" b="0"/>
            <a:pathLst>
              <a:path w="394352" h="394339">
                <a:moveTo>
                  <a:pt x="102852" y="317187"/>
                </a:moveTo>
                <a:cubicBezTo>
                  <a:pt x="102852" y="331390"/>
                  <a:pt x="114366" y="342904"/>
                  <a:pt x="128570" y="342904"/>
                </a:cubicBezTo>
                <a:cubicBezTo>
                  <a:pt x="142773" y="342904"/>
                  <a:pt x="154287" y="331390"/>
                  <a:pt x="154287" y="317187"/>
                </a:cubicBezTo>
                <a:cubicBezTo>
                  <a:pt x="154287" y="302983"/>
                  <a:pt x="142773" y="291469"/>
                  <a:pt x="128570" y="291469"/>
                </a:cubicBezTo>
                <a:cubicBezTo>
                  <a:pt x="114366" y="291469"/>
                  <a:pt x="102852" y="302983"/>
                  <a:pt x="102852" y="317187"/>
                </a:cubicBezTo>
                <a:close/>
                <a:moveTo>
                  <a:pt x="0" y="4"/>
                </a:moveTo>
                <a:lnTo>
                  <a:pt x="46411" y="4"/>
                </a:lnTo>
                <a:cubicBezTo>
                  <a:pt x="54371" y="0"/>
                  <a:pt x="61287" y="5474"/>
                  <a:pt x="63110" y="13223"/>
                </a:cubicBezTo>
                <a:lnTo>
                  <a:pt x="128587" y="291469"/>
                </a:lnTo>
                <a:lnTo>
                  <a:pt x="197167" y="291469"/>
                </a:lnTo>
                <a:moveTo>
                  <a:pt x="368343" y="180832"/>
                </a:moveTo>
                <a:lnTo>
                  <a:pt x="386808" y="125437"/>
                </a:lnTo>
                <a:cubicBezTo>
                  <a:pt x="388549" y="120208"/>
                  <a:pt x="387671" y="114461"/>
                  <a:pt x="384448" y="109991"/>
                </a:cubicBezTo>
                <a:cubicBezTo>
                  <a:pt x="381224" y="105521"/>
                  <a:pt x="376048" y="102873"/>
                  <a:pt x="370537" y="102874"/>
                </a:cubicBezTo>
                <a:lnTo>
                  <a:pt x="84216" y="102874"/>
                </a:lnTo>
                <a:moveTo>
                  <a:pt x="196721" y="240034"/>
                </a:moveTo>
                <a:lnTo>
                  <a:pt x="116465" y="240034"/>
                </a:lnTo>
                <a:moveTo>
                  <a:pt x="222902" y="308614"/>
                </a:moveTo>
                <a:cubicBezTo>
                  <a:pt x="222902" y="355959"/>
                  <a:pt x="261282" y="394339"/>
                  <a:pt x="308627" y="394339"/>
                </a:cubicBezTo>
                <a:cubicBezTo>
                  <a:pt x="355971" y="394339"/>
                  <a:pt x="394352" y="355959"/>
                  <a:pt x="394352" y="308614"/>
                </a:cubicBezTo>
                <a:cubicBezTo>
                  <a:pt x="394352" y="261269"/>
                  <a:pt x="355971" y="222889"/>
                  <a:pt x="308627" y="222889"/>
                </a:cubicBezTo>
                <a:cubicBezTo>
                  <a:pt x="261282" y="222889"/>
                  <a:pt x="222902" y="261269"/>
                  <a:pt x="222902" y="308614"/>
                </a:cubicBezTo>
                <a:close/>
                <a:moveTo>
                  <a:pt x="308627" y="342904"/>
                </a:moveTo>
                <a:lnTo>
                  <a:pt x="308627" y="274324"/>
                </a:lnTo>
                <a:moveTo>
                  <a:pt x="342917" y="308614"/>
                </a:moveTo>
                <a:lnTo>
                  <a:pt x="274337" y="308614"/>
                </a:lnTo>
              </a:path>
            </a:pathLst>
          </a:custGeom>
          <a:noFill/>
          <a:ln w="12858">
            <a:solidFill>
              <a:srgbClr val="1AC3FB"/>
            </a:solidFill>
          </a:ln>
        </p:spPr>
        <p:txBody>
          <a:bodyPr rtlCol="0" anchor="ctr"/>
          <a:lstStyle/>
          <a:p>
            <a:pPr algn="ctr"/>
            <a:endParaRPr/>
          </a:p>
        </p:txBody>
      </p:sp>
      <p:sp>
        <p:nvSpPr>
          <p:cNvPr id="61" name="Rounded Rectangle 58"/>
          <p:cNvSpPr/>
          <p:nvPr/>
        </p:nvSpPr>
        <p:spPr>
          <a:xfrm>
            <a:off x="4902491" y="4254630"/>
            <a:ext cx="302825" cy="380069"/>
          </a:xfrm>
          <a:custGeom>
            <a:avLst/>
            <a:gdLst/>
            <a:ahLst/>
            <a:cxnLst/>
            <a:rect l="0" t="0" r="0" b="0"/>
            <a:pathLst>
              <a:path w="302825" h="380069">
                <a:moveTo>
                  <a:pt x="285680" y="0"/>
                </a:moveTo>
                <a:lnTo>
                  <a:pt x="17145" y="0"/>
                </a:lnTo>
                <a:cubicBezTo>
                  <a:pt x="7675" y="0"/>
                  <a:pt x="0" y="7676"/>
                  <a:pt x="0" y="17144"/>
                </a:cubicBezTo>
                <a:lnTo>
                  <a:pt x="0" y="74942"/>
                </a:lnTo>
                <a:cubicBezTo>
                  <a:pt x="0" y="84411"/>
                  <a:pt x="7676" y="92087"/>
                  <a:pt x="17145" y="92087"/>
                </a:cubicBezTo>
                <a:lnTo>
                  <a:pt x="285680" y="92087"/>
                </a:lnTo>
                <a:cubicBezTo>
                  <a:pt x="295149" y="92087"/>
                  <a:pt x="302825" y="84411"/>
                  <a:pt x="302825" y="74942"/>
                </a:cubicBezTo>
                <a:lnTo>
                  <a:pt x="302825" y="17144"/>
                </a:lnTo>
                <a:cubicBezTo>
                  <a:pt x="302825" y="7676"/>
                  <a:pt x="295149" y="0"/>
                  <a:pt x="285680" y="0"/>
                </a:cubicBezTo>
                <a:close/>
                <a:moveTo>
                  <a:pt x="285680" y="287981"/>
                </a:moveTo>
                <a:lnTo>
                  <a:pt x="17145" y="287981"/>
                </a:lnTo>
                <a:cubicBezTo>
                  <a:pt x="7675" y="287981"/>
                  <a:pt x="0" y="295659"/>
                  <a:pt x="0" y="305126"/>
                </a:cubicBezTo>
                <a:lnTo>
                  <a:pt x="0" y="362924"/>
                </a:lnTo>
                <a:cubicBezTo>
                  <a:pt x="0" y="372393"/>
                  <a:pt x="7676" y="380069"/>
                  <a:pt x="17145" y="380069"/>
                </a:cubicBezTo>
                <a:lnTo>
                  <a:pt x="285680" y="380069"/>
                </a:lnTo>
                <a:cubicBezTo>
                  <a:pt x="295149" y="380069"/>
                  <a:pt x="302825" y="372393"/>
                  <a:pt x="302825" y="362924"/>
                </a:cubicBezTo>
                <a:lnTo>
                  <a:pt x="302825" y="305126"/>
                </a:lnTo>
                <a:cubicBezTo>
                  <a:pt x="302825" y="295659"/>
                  <a:pt x="295149" y="287981"/>
                  <a:pt x="285680" y="287981"/>
                </a:cubicBezTo>
                <a:close/>
                <a:moveTo>
                  <a:pt x="285680" y="143991"/>
                </a:moveTo>
                <a:lnTo>
                  <a:pt x="17145" y="143991"/>
                </a:lnTo>
                <a:cubicBezTo>
                  <a:pt x="7675" y="143991"/>
                  <a:pt x="0" y="151667"/>
                  <a:pt x="0" y="161136"/>
                </a:cubicBezTo>
                <a:lnTo>
                  <a:pt x="0" y="218933"/>
                </a:lnTo>
                <a:cubicBezTo>
                  <a:pt x="0" y="228402"/>
                  <a:pt x="7676" y="236078"/>
                  <a:pt x="17145" y="236078"/>
                </a:cubicBezTo>
                <a:lnTo>
                  <a:pt x="285680" y="236078"/>
                </a:lnTo>
                <a:cubicBezTo>
                  <a:pt x="295149" y="236078"/>
                  <a:pt x="302825" y="228402"/>
                  <a:pt x="302825" y="218933"/>
                </a:cubicBezTo>
                <a:lnTo>
                  <a:pt x="302825" y="161136"/>
                </a:lnTo>
                <a:cubicBezTo>
                  <a:pt x="302825" y="151667"/>
                  <a:pt x="295149" y="143991"/>
                  <a:pt x="285680" y="143991"/>
                </a:cubicBezTo>
                <a:close/>
              </a:path>
            </a:pathLst>
          </a:custGeom>
          <a:noFill/>
          <a:ln w="12858">
            <a:solidFill>
              <a:srgbClr val="A6DA37"/>
            </a:solidFill>
          </a:ln>
        </p:spPr>
        <p:txBody>
          <a:bodyPr rtlCol="0" anchor="ctr"/>
          <a:lstStyle/>
          <a:p>
            <a:pPr algn="ctr"/>
            <a:endParaRPr/>
          </a:p>
        </p:txBody>
      </p:sp>
      <p:sp>
        <p:nvSpPr>
          <p:cNvPr id="62" name="Rounded Rectangle 59"/>
          <p:cNvSpPr/>
          <p:nvPr/>
        </p:nvSpPr>
        <p:spPr>
          <a:xfrm>
            <a:off x="6502669" y="4247531"/>
            <a:ext cx="395122" cy="394292"/>
          </a:xfrm>
          <a:custGeom>
            <a:avLst/>
            <a:gdLst/>
            <a:ahLst/>
            <a:cxnLst/>
            <a:rect l="0" t="0" r="0" b="0"/>
            <a:pathLst>
              <a:path w="395122" h="394292">
                <a:moveTo>
                  <a:pt x="291465" y="342900"/>
                </a:moveTo>
                <a:cubicBezTo>
                  <a:pt x="293832" y="342900"/>
                  <a:pt x="295751" y="344819"/>
                  <a:pt x="295751" y="347186"/>
                </a:cubicBezTo>
                <a:cubicBezTo>
                  <a:pt x="295751" y="349553"/>
                  <a:pt x="293832" y="351472"/>
                  <a:pt x="291465" y="351472"/>
                </a:cubicBezTo>
                <a:cubicBezTo>
                  <a:pt x="289097" y="351472"/>
                  <a:pt x="287178" y="349553"/>
                  <a:pt x="287178" y="347186"/>
                </a:cubicBezTo>
                <a:cubicBezTo>
                  <a:pt x="287178" y="344819"/>
                  <a:pt x="289097" y="342900"/>
                  <a:pt x="291465" y="342900"/>
                </a:cubicBezTo>
                <a:moveTo>
                  <a:pt x="291465" y="257175"/>
                </a:moveTo>
                <a:lnTo>
                  <a:pt x="291465" y="308610"/>
                </a:lnTo>
                <a:moveTo>
                  <a:pt x="305832" y="205740"/>
                </a:moveTo>
                <a:cubicBezTo>
                  <a:pt x="303000" y="200436"/>
                  <a:pt x="297477" y="197124"/>
                  <a:pt x="291465" y="197124"/>
                </a:cubicBezTo>
                <a:cubicBezTo>
                  <a:pt x="285452" y="197124"/>
                  <a:pt x="279929" y="200436"/>
                  <a:pt x="277097" y="205740"/>
                </a:cubicBezTo>
                <a:lnTo>
                  <a:pt x="190412" y="370932"/>
                </a:lnTo>
                <a:cubicBezTo>
                  <a:pt x="187807" y="375882"/>
                  <a:pt x="188009" y="381840"/>
                  <a:pt x="190943" y="386602"/>
                </a:cubicBezTo>
                <a:cubicBezTo>
                  <a:pt x="193913" y="391386"/>
                  <a:pt x="199148" y="394292"/>
                  <a:pt x="204779" y="394283"/>
                </a:cubicBezTo>
                <a:lnTo>
                  <a:pt x="378150" y="394283"/>
                </a:lnTo>
                <a:cubicBezTo>
                  <a:pt x="383781" y="394292"/>
                  <a:pt x="389016" y="391386"/>
                  <a:pt x="391986" y="386602"/>
                </a:cubicBezTo>
                <a:cubicBezTo>
                  <a:pt x="394920" y="381840"/>
                  <a:pt x="395122" y="375882"/>
                  <a:pt x="392517" y="370932"/>
                </a:cubicBezTo>
                <a:close/>
                <a:moveTo>
                  <a:pt x="171450" y="257175"/>
                </a:moveTo>
                <a:lnTo>
                  <a:pt x="17145" y="257175"/>
                </a:lnTo>
                <a:cubicBezTo>
                  <a:pt x="7676" y="257175"/>
                  <a:pt x="0" y="249498"/>
                  <a:pt x="0" y="240030"/>
                </a:cubicBezTo>
                <a:lnTo>
                  <a:pt x="0" y="75678"/>
                </a:lnTo>
                <a:cubicBezTo>
                  <a:pt x="0" y="71131"/>
                  <a:pt x="1807" y="66771"/>
                  <a:pt x="5023" y="63556"/>
                </a:cubicBezTo>
                <a:lnTo>
                  <a:pt x="63556" y="5023"/>
                </a:lnTo>
                <a:cubicBezTo>
                  <a:pt x="66771" y="1807"/>
                  <a:pt x="71131" y="0"/>
                  <a:pt x="75678" y="0"/>
                </a:cubicBezTo>
                <a:lnTo>
                  <a:pt x="164351" y="0"/>
                </a:lnTo>
                <a:cubicBezTo>
                  <a:pt x="168898" y="0"/>
                  <a:pt x="173258" y="1807"/>
                  <a:pt x="176473" y="5023"/>
                </a:cubicBezTo>
                <a:lnTo>
                  <a:pt x="235006" y="63556"/>
                </a:lnTo>
                <a:cubicBezTo>
                  <a:pt x="238222" y="66771"/>
                  <a:pt x="240029" y="71131"/>
                  <a:pt x="240030" y="75678"/>
                </a:cubicBezTo>
                <a:lnTo>
                  <a:pt x="240030" y="137160"/>
                </a:lnTo>
                <a:moveTo>
                  <a:pt x="1543" y="68580"/>
                </a:moveTo>
                <a:lnTo>
                  <a:pt x="238486" y="68580"/>
                </a:lnTo>
                <a:moveTo>
                  <a:pt x="120015" y="0"/>
                </a:moveTo>
                <a:lnTo>
                  <a:pt x="120015" y="68580"/>
                </a:lnTo>
              </a:path>
            </a:pathLst>
          </a:custGeom>
          <a:noFill/>
          <a:ln w="12858">
            <a:solidFill>
              <a:srgbClr val="F79438"/>
            </a:solidFill>
          </a:ln>
        </p:spPr>
        <p:txBody>
          <a:bodyPr rtlCol="0" anchor="ctr"/>
          <a:lstStyle/>
          <a:p>
            <a:pPr algn="ctr"/>
            <a:endParaRPr/>
          </a:p>
        </p:txBody>
      </p:sp>
      <p:sp>
        <p:nvSpPr>
          <p:cNvPr id="63" name="Rounded Rectangle 60"/>
          <p:cNvSpPr/>
          <p:nvPr/>
        </p:nvSpPr>
        <p:spPr>
          <a:xfrm>
            <a:off x="8148586" y="4316111"/>
            <a:ext cx="394338" cy="257175"/>
          </a:xfrm>
          <a:custGeom>
            <a:avLst/>
            <a:gdLst/>
            <a:ahLst/>
            <a:cxnLst/>
            <a:rect l="0" t="0" r="0" b="0"/>
            <a:pathLst>
              <a:path w="394338" h="257175">
                <a:moveTo>
                  <a:pt x="325758" y="222885"/>
                </a:moveTo>
                <a:lnTo>
                  <a:pt x="377193" y="222885"/>
                </a:lnTo>
                <a:cubicBezTo>
                  <a:pt x="386662" y="222885"/>
                  <a:pt x="394338" y="215208"/>
                  <a:pt x="394338" y="205740"/>
                </a:cubicBezTo>
                <a:cubicBezTo>
                  <a:pt x="394338" y="196271"/>
                  <a:pt x="386662" y="188595"/>
                  <a:pt x="377193" y="188595"/>
                </a:cubicBezTo>
                <a:lnTo>
                  <a:pt x="353790" y="16990"/>
                </a:lnTo>
                <a:cubicBezTo>
                  <a:pt x="352462" y="7259"/>
                  <a:pt x="344152" y="4"/>
                  <a:pt x="334330" y="0"/>
                </a:cubicBezTo>
                <a:lnTo>
                  <a:pt x="111445" y="0"/>
                </a:lnTo>
                <a:moveTo>
                  <a:pt x="120018" y="188595"/>
                </a:moveTo>
                <a:lnTo>
                  <a:pt x="377193" y="188595"/>
                </a:lnTo>
                <a:moveTo>
                  <a:pt x="120018" y="0"/>
                </a:moveTo>
                <a:lnTo>
                  <a:pt x="80190" y="0"/>
                </a:lnTo>
                <a:cubicBezTo>
                  <a:pt x="73181" y="4"/>
                  <a:pt x="66880" y="4275"/>
                  <a:pt x="64279" y="10784"/>
                </a:cubicBezTo>
                <a:lnTo>
                  <a:pt x="1237" y="168398"/>
                </a:lnTo>
                <a:cubicBezTo>
                  <a:pt x="419" y="170418"/>
                  <a:pt x="0" y="172578"/>
                  <a:pt x="3" y="174759"/>
                </a:cubicBezTo>
                <a:lnTo>
                  <a:pt x="3" y="205740"/>
                </a:lnTo>
                <a:cubicBezTo>
                  <a:pt x="3" y="215208"/>
                  <a:pt x="7679" y="222885"/>
                  <a:pt x="17148" y="222885"/>
                </a:cubicBezTo>
                <a:lnTo>
                  <a:pt x="85728" y="222885"/>
                </a:lnTo>
                <a:moveTo>
                  <a:pt x="222888" y="0"/>
                </a:moveTo>
                <a:lnTo>
                  <a:pt x="222888" y="188595"/>
                </a:lnTo>
                <a:moveTo>
                  <a:pt x="85728" y="222885"/>
                </a:moveTo>
                <a:cubicBezTo>
                  <a:pt x="85728" y="241822"/>
                  <a:pt x="101080" y="257175"/>
                  <a:pt x="120018" y="257175"/>
                </a:cubicBezTo>
                <a:cubicBezTo>
                  <a:pt x="138956" y="257175"/>
                  <a:pt x="154308" y="241822"/>
                  <a:pt x="154308" y="222885"/>
                </a:cubicBezTo>
                <a:cubicBezTo>
                  <a:pt x="154308" y="203947"/>
                  <a:pt x="138956" y="188595"/>
                  <a:pt x="120018" y="188595"/>
                </a:cubicBezTo>
                <a:cubicBezTo>
                  <a:pt x="101080" y="188595"/>
                  <a:pt x="85728" y="203947"/>
                  <a:pt x="85728" y="222885"/>
                </a:cubicBezTo>
                <a:close/>
                <a:moveTo>
                  <a:pt x="120018" y="102870"/>
                </a:moveTo>
                <a:lnTo>
                  <a:pt x="27435" y="102870"/>
                </a:lnTo>
                <a:moveTo>
                  <a:pt x="42865" y="171450"/>
                </a:moveTo>
                <a:lnTo>
                  <a:pt x="3" y="171450"/>
                </a:lnTo>
                <a:moveTo>
                  <a:pt x="353790" y="17145"/>
                </a:moveTo>
                <a:lnTo>
                  <a:pt x="377193" y="17145"/>
                </a:lnTo>
                <a:moveTo>
                  <a:pt x="257178" y="222885"/>
                </a:moveTo>
                <a:cubicBezTo>
                  <a:pt x="257178" y="241822"/>
                  <a:pt x="272530" y="257175"/>
                  <a:pt x="291468" y="257175"/>
                </a:cubicBezTo>
                <a:cubicBezTo>
                  <a:pt x="310406" y="257175"/>
                  <a:pt x="325758" y="241822"/>
                  <a:pt x="325758" y="222885"/>
                </a:cubicBezTo>
                <a:cubicBezTo>
                  <a:pt x="325758" y="203947"/>
                  <a:pt x="310406" y="188595"/>
                  <a:pt x="291468" y="188595"/>
                </a:cubicBezTo>
                <a:cubicBezTo>
                  <a:pt x="272530" y="188595"/>
                  <a:pt x="257178" y="203947"/>
                  <a:pt x="257178" y="222885"/>
                </a:cubicBezTo>
                <a:close/>
                <a:moveTo>
                  <a:pt x="154308" y="51435"/>
                </a:moveTo>
                <a:lnTo>
                  <a:pt x="154308" y="102870"/>
                </a:lnTo>
                <a:lnTo>
                  <a:pt x="188598" y="102870"/>
                </a:lnTo>
                <a:lnTo>
                  <a:pt x="188598" y="51435"/>
                </a:lnTo>
                <a:close/>
                <a:moveTo>
                  <a:pt x="120018" y="0"/>
                </a:moveTo>
                <a:lnTo>
                  <a:pt x="120018" y="188595"/>
                </a:lnTo>
                <a:moveTo>
                  <a:pt x="154308" y="222885"/>
                </a:moveTo>
                <a:lnTo>
                  <a:pt x="257178" y="222885"/>
                </a:lnTo>
              </a:path>
            </a:pathLst>
          </a:custGeom>
          <a:noFill/>
          <a:ln w="12858">
            <a:solidFill>
              <a:srgbClr val="F366BB"/>
            </a:solidFill>
          </a:ln>
        </p:spPr>
        <p:txBody>
          <a:bodyPr rtlCol="0" anchor="ctr"/>
          <a:lstStyle/>
          <a:p>
            <a:pPr algn="ctr"/>
            <a:endParaRPr/>
          </a:p>
        </p:txBody>
      </p:sp>
      <p:sp>
        <p:nvSpPr>
          <p:cNvPr id="64" name="Rounded Rectangle 61"/>
          <p:cNvSpPr/>
          <p:nvPr/>
        </p:nvSpPr>
        <p:spPr>
          <a:xfrm>
            <a:off x="7327738" y="3224386"/>
            <a:ext cx="390117" cy="383225"/>
          </a:xfrm>
          <a:custGeom>
            <a:avLst/>
            <a:gdLst/>
            <a:ahLst/>
            <a:cxnLst/>
            <a:rect l="0" t="0" r="0" b="0"/>
            <a:pathLst>
              <a:path w="390117" h="383225">
                <a:moveTo>
                  <a:pt x="80821" y="188063"/>
                </a:moveTo>
                <a:lnTo>
                  <a:pt x="80821" y="235212"/>
                </a:lnTo>
                <a:moveTo>
                  <a:pt x="80821" y="286647"/>
                </a:moveTo>
                <a:lnTo>
                  <a:pt x="80821" y="299505"/>
                </a:lnTo>
                <a:cubicBezTo>
                  <a:pt x="80821" y="313709"/>
                  <a:pt x="92335" y="325223"/>
                  <a:pt x="106539" y="325223"/>
                </a:cubicBezTo>
                <a:lnTo>
                  <a:pt x="119397" y="325223"/>
                </a:lnTo>
                <a:moveTo>
                  <a:pt x="170832" y="325223"/>
                </a:moveTo>
                <a:lnTo>
                  <a:pt x="217981" y="325223"/>
                </a:lnTo>
                <a:moveTo>
                  <a:pt x="287247" y="177485"/>
                </a:moveTo>
                <a:lnTo>
                  <a:pt x="364399" y="177485"/>
                </a:lnTo>
                <a:cubicBezTo>
                  <a:pt x="364399" y="177485"/>
                  <a:pt x="390117" y="177485"/>
                  <a:pt x="390117" y="203202"/>
                </a:cubicBezTo>
                <a:lnTo>
                  <a:pt x="390117" y="357507"/>
                </a:lnTo>
                <a:cubicBezTo>
                  <a:pt x="390117" y="357507"/>
                  <a:pt x="390117" y="383225"/>
                  <a:pt x="364399" y="383225"/>
                </a:cubicBezTo>
                <a:lnTo>
                  <a:pt x="287247" y="383225"/>
                </a:lnTo>
                <a:cubicBezTo>
                  <a:pt x="287247" y="383225"/>
                  <a:pt x="261529" y="383225"/>
                  <a:pt x="261529" y="357507"/>
                </a:cubicBezTo>
                <a:lnTo>
                  <a:pt x="261529" y="203202"/>
                </a:lnTo>
                <a:cubicBezTo>
                  <a:pt x="261529" y="203202"/>
                  <a:pt x="261529" y="177485"/>
                  <a:pt x="287247" y="177485"/>
                </a:cubicBezTo>
                <a:moveTo>
                  <a:pt x="263175" y="335201"/>
                </a:moveTo>
                <a:lnTo>
                  <a:pt x="390117" y="335201"/>
                </a:lnTo>
                <a:moveTo>
                  <a:pt x="9755" y="108579"/>
                </a:moveTo>
                <a:lnTo>
                  <a:pt x="20865" y="130284"/>
                </a:lnTo>
                <a:cubicBezTo>
                  <a:pt x="26001" y="140329"/>
                  <a:pt x="36329" y="146652"/>
                  <a:pt x="47611" y="146658"/>
                </a:cubicBezTo>
                <a:lnTo>
                  <a:pt x="176473" y="146658"/>
                </a:lnTo>
                <a:cubicBezTo>
                  <a:pt x="187767" y="146665"/>
                  <a:pt x="198112" y="140340"/>
                  <a:pt x="203253" y="130284"/>
                </a:cubicBezTo>
                <a:lnTo>
                  <a:pt x="214363" y="108579"/>
                </a:lnTo>
                <a:moveTo>
                  <a:pt x="0" y="108579"/>
                </a:moveTo>
                <a:lnTo>
                  <a:pt x="224153" y="108579"/>
                </a:lnTo>
                <a:moveTo>
                  <a:pt x="24363" y="108579"/>
                </a:moveTo>
                <a:cubicBezTo>
                  <a:pt x="24364" y="60137"/>
                  <a:pt x="63634" y="20868"/>
                  <a:pt x="112076" y="20868"/>
                </a:cubicBezTo>
                <a:cubicBezTo>
                  <a:pt x="160518" y="20868"/>
                  <a:pt x="199789" y="60137"/>
                  <a:pt x="199790" y="108579"/>
                </a:cubicBezTo>
                <a:moveTo>
                  <a:pt x="112076" y="20865"/>
                </a:moveTo>
                <a:lnTo>
                  <a:pt x="112076" y="0"/>
                </a:lnTo>
              </a:path>
            </a:pathLst>
          </a:custGeom>
          <a:noFill/>
          <a:ln w="12858">
            <a:solidFill>
              <a:srgbClr val="FB6762"/>
            </a:solidFill>
          </a:ln>
        </p:spPr>
        <p:txBody>
          <a:bodyPr rtlCol="0" anchor="ctr"/>
          <a:lstStyle/>
          <a:p>
            <a:pPr algn="ctr"/>
            <a:endParaRPr/>
          </a:p>
        </p:txBody>
      </p:sp>
      <p:sp>
        <p:nvSpPr>
          <p:cNvPr id="136" name="Google Shape;136;p2"/>
          <p:cNvSpPr/>
          <p:nvPr/>
        </p:nvSpPr>
        <p:spPr>
          <a:xfrm>
            <a:off x="4231322" y="204787"/>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 </a:t>
            </a:r>
            <a:r>
              <a:rPr lang="en-US" altLang="en-IN" sz="2000" dirty="0">
                <a:solidFill>
                  <a:schemeClr val="bg1"/>
                </a:solidFill>
              </a:rPr>
              <a:t>FLOW </a:t>
            </a:r>
            <a:r>
              <a:rPr lang="en-IN" altLang="en-US" sz="2000" dirty="0">
                <a:solidFill>
                  <a:schemeClr val="bg1"/>
                </a:solidFill>
              </a:rPr>
              <a:t>DIAGRAM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 FRONTEND OUTPUT</a:t>
            </a:r>
          </a:p>
        </p:txBody>
      </p:sp>
      <p:pic>
        <p:nvPicPr>
          <p:cNvPr id="3" name="Picture 2"/>
          <p:cNvPicPr>
            <a:picLocks noChangeAspect="1"/>
          </p:cNvPicPr>
          <p:nvPr/>
        </p:nvPicPr>
        <p:blipFill>
          <a:blip r:embed="rId2"/>
          <a:stretch>
            <a:fillRect/>
          </a:stretch>
        </p:blipFill>
        <p:spPr>
          <a:xfrm>
            <a:off x="1217676" y="1354139"/>
            <a:ext cx="9590532" cy="46290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 FRONTEND OUTPUT</a:t>
            </a:r>
          </a:p>
        </p:txBody>
      </p:sp>
      <p:pic>
        <p:nvPicPr>
          <p:cNvPr id="4" name="Picture 3"/>
          <p:cNvPicPr>
            <a:picLocks noChangeAspect="1"/>
          </p:cNvPicPr>
          <p:nvPr/>
        </p:nvPicPr>
        <p:blipFill>
          <a:blip r:embed="rId2"/>
          <a:stretch>
            <a:fillRect/>
          </a:stretch>
        </p:blipFill>
        <p:spPr>
          <a:xfrm>
            <a:off x="1426464" y="1035147"/>
            <a:ext cx="9723120" cy="5096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 FRONTEND OUTPUT</a:t>
            </a:r>
          </a:p>
        </p:txBody>
      </p:sp>
      <p:pic>
        <p:nvPicPr>
          <p:cNvPr id="3" name="Picture 2"/>
          <p:cNvPicPr>
            <a:picLocks noChangeAspect="1"/>
          </p:cNvPicPr>
          <p:nvPr/>
        </p:nvPicPr>
        <p:blipFill>
          <a:blip r:embed="rId2"/>
          <a:stretch>
            <a:fillRect/>
          </a:stretch>
        </p:blipFill>
        <p:spPr>
          <a:xfrm>
            <a:off x="1481328" y="1076187"/>
            <a:ext cx="9704832" cy="50566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 FRONTEND OUTPUT</a:t>
            </a:r>
          </a:p>
        </p:txBody>
      </p:sp>
      <p:pic>
        <p:nvPicPr>
          <p:cNvPr id="3" name="Picture 2" descr="A screenshot of a cell phone&#10;&#10;AI-generated content may be incorrect.">
            <a:extLst>
              <a:ext uri="{FF2B5EF4-FFF2-40B4-BE49-F238E27FC236}">
                <a16:creationId xmlns:a16="http://schemas.microsoft.com/office/drawing/2014/main" id="{CD60C464-58E0-4BB1-A58B-B06A9BCDF7ED}"/>
              </a:ext>
            </a:extLst>
          </p:cNvPr>
          <p:cNvPicPr>
            <a:picLocks noChangeAspect="1"/>
          </p:cNvPicPr>
          <p:nvPr/>
        </p:nvPicPr>
        <p:blipFill>
          <a:blip r:embed="rId2"/>
          <a:stretch>
            <a:fillRect/>
          </a:stretch>
        </p:blipFill>
        <p:spPr>
          <a:xfrm>
            <a:off x="1191237" y="1065080"/>
            <a:ext cx="2025824" cy="5054687"/>
          </a:xfrm>
          <a:prstGeom prst="rect">
            <a:avLst/>
          </a:prstGeom>
        </p:spPr>
      </p:pic>
      <p:pic>
        <p:nvPicPr>
          <p:cNvPr id="6" name="Picture 5" descr="A screenshot of a login screen&#10;&#10;AI-generated content may be incorrect.">
            <a:extLst>
              <a:ext uri="{FF2B5EF4-FFF2-40B4-BE49-F238E27FC236}">
                <a16:creationId xmlns:a16="http://schemas.microsoft.com/office/drawing/2014/main" id="{EDE1BF76-5A7A-4542-BF20-9C53CDF979BB}"/>
              </a:ext>
            </a:extLst>
          </p:cNvPr>
          <p:cNvPicPr>
            <a:picLocks noChangeAspect="1"/>
          </p:cNvPicPr>
          <p:nvPr/>
        </p:nvPicPr>
        <p:blipFill>
          <a:blip r:embed="rId3"/>
          <a:stretch>
            <a:fillRect/>
          </a:stretch>
        </p:blipFill>
        <p:spPr>
          <a:xfrm>
            <a:off x="4588778" y="1065080"/>
            <a:ext cx="2265131" cy="5054687"/>
          </a:xfrm>
          <a:prstGeom prst="rect">
            <a:avLst/>
          </a:prstGeom>
        </p:spPr>
      </p:pic>
      <p:pic>
        <p:nvPicPr>
          <p:cNvPr id="8" name="Picture 7" descr="A screenshot of a phone&#10;&#10;AI-generated content may be incorrect.">
            <a:extLst>
              <a:ext uri="{FF2B5EF4-FFF2-40B4-BE49-F238E27FC236}">
                <a16:creationId xmlns:a16="http://schemas.microsoft.com/office/drawing/2014/main" id="{80FF9B86-E179-5A4C-82D3-F58BDD548DB6}"/>
              </a:ext>
            </a:extLst>
          </p:cNvPr>
          <p:cNvPicPr>
            <a:picLocks noChangeAspect="1"/>
          </p:cNvPicPr>
          <p:nvPr/>
        </p:nvPicPr>
        <p:blipFill>
          <a:blip r:embed="rId4"/>
          <a:stretch>
            <a:fillRect/>
          </a:stretch>
        </p:blipFill>
        <p:spPr>
          <a:xfrm>
            <a:off x="8048626" y="1065080"/>
            <a:ext cx="2460472" cy="50546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423132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TECH STACKS</a:t>
            </a:r>
          </a:p>
        </p:txBody>
      </p:sp>
      <p:sp>
        <p:nvSpPr>
          <p:cNvPr id="2" name="Text Box 1"/>
          <p:cNvSpPr txBox="1"/>
          <p:nvPr/>
        </p:nvSpPr>
        <p:spPr>
          <a:xfrm>
            <a:off x="975360" y="1148715"/>
            <a:ext cx="9664700" cy="3603625"/>
          </a:xfrm>
          <a:prstGeom prst="rect">
            <a:avLst/>
          </a:prstGeom>
        </p:spPr>
        <p:txBody>
          <a:bodyPr>
            <a:noAutofit/>
          </a:bodyPr>
          <a:lstStyle/>
          <a:p>
            <a:r>
              <a:rPr lang="en-IN" sz="2000" b="1" dirty="0">
                <a:latin typeface="Times New Roman" panose="02020603050405020304" pitchFamily="18" charset="0"/>
                <a:cs typeface="Times New Roman" panose="02020603050405020304" pitchFamily="18" charset="0"/>
              </a:rPr>
              <a:t>Frontend (Web &amp; Mobile)</a:t>
            </a:r>
          </a:p>
          <a:p>
            <a:r>
              <a:rPr lang="en-IN" sz="2000" b="1" dirty="0">
                <a:latin typeface="Times New Roman" panose="02020603050405020304" pitchFamily="18" charset="0"/>
                <a:cs typeface="Times New Roman" panose="02020603050405020304" pitchFamily="18" charset="0"/>
              </a:rPr>
              <a:t>  React.js</a:t>
            </a:r>
            <a:r>
              <a:rPr lang="en-IN" sz="2000" dirty="0">
                <a:latin typeface="Times New Roman" panose="02020603050405020304" pitchFamily="18" charset="0"/>
                <a:cs typeface="Times New Roman" panose="02020603050405020304" pitchFamily="18" charset="0"/>
              </a:rPr>
              <a:t> (Web application UI)</a:t>
            </a:r>
          </a:p>
          <a:p>
            <a:r>
              <a:rPr lang="en-IN" sz="2000" b="1" dirty="0">
                <a:latin typeface="Times New Roman" panose="02020603050405020304" pitchFamily="18" charset="0"/>
                <a:cs typeface="Times New Roman" panose="02020603050405020304" pitchFamily="18" charset="0"/>
              </a:rPr>
              <a:t>  React Native</a:t>
            </a:r>
            <a:r>
              <a:rPr lang="en-IN" sz="2000" dirty="0">
                <a:latin typeface="Times New Roman" panose="02020603050405020304" pitchFamily="18" charset="0"/>
                <a:cs typeface="Times New Roman" panose="02020603050405020304" pitchFamily="18" charset="0"/>
              </a:rPr>
              <a:t> (Cross-platform mobile application for Android/iOS)</a:t>
            </a:r>
          </a:p>
          <a:p>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TailwindCSS</a:t>
            </a:r>
            <a:r>
              <a:rPr lang="en-IN"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Material UI</a:t>
            </a:r>
            <a:r>
              <a:rPr lang="en-IN" sz="2000" dirty="0">
                <a:latin typeface="Times New Roman" panose="02020603050405020304" pitchFamily="18" charset="0"/>
                <a:cs typeface="Times New Roman" panose="02020603050405020304" pitchFamily="18" charset="0"/>
              </a:rPr>
              <a:t> for responsive, modern UI components</a:t>
            </a:r>
          </a:p>
          <a:p>
            <a:r>
              <a:rPr lang="en-US" sz="2000" b="1" dirty="0">
                <a:latin typeface="Times New Roman" panose="02020603050405020304" pitchFamily="18" charset="0"/>
                <a:cs typeface="Times New Roman" panose="02020603050405020304" pitchFamily="18" charset="0"/>
              </a:rPr>
              <a:t>Backend</a:t>
            </a:r>
          </a:p>
          <a:p>
            <a:r>
              <a:rPr lang="en-US" sz="2000" b="1" dirty="0">
                <a:latin typeface="Times New Roman" panose="02020603050405020304" pitchFamily="18" charset="0"/>
                <a:cs typeface="Times New Roman" panose="02020603050405020304" pitchFamily="18" charset="0"/>
              </a:rPr>
              <a:t>  Spring Boot (Java)</a:t>
            </a:r>
            <a:r>
              <a:rPr lang="en-US" sz="2000" dirty="0">
                <a:latin typeface="Times New Roman" panose="02020603050405020304" pitchFamily="18" charset="0"/>
                <a:cs typeface="Times New Roman" panose="02020603050405020304" pitchFamily="18" charset="0"/>
              </a:rPr>
              <a:t> — RESTful microservices architecture</a:t>
            </a:r>
          </a:p>
          <a:p>
            <a:r>
              <a:rPr lang="en-US" sz="2000" b="1" dirty="0">
                <a:latin typeface="Times New Roman" panose="02020603050405020304" pitchFamily="18" charset="0"/>
                <a:cs typeface="Times New Roman" panose="02020603050405020304" pitchFamily="18" charset="0"/>
              </a:rPr>
              <a:t>  Node.js (Optional microservices)</a:t>
            </a:r>
            <a:r>
              <a:rPr lang="en-US" sz="2000" dirty="0">
                <a:latin typeface="Times New Roman" panose="02020603050405020304" pitchFamily="18" charset="0"/>
                <a:cs typeface="Times New Roman" panose="02020603050405020304" pitchFamily="18" charset="0"/>
              </a:rPr>
              <a:t> — for real-time features like live order tracking (future)</a:t>
            </a:r>
          </a:p>
          <a:p>
            <a:r>
              <a:rPr lang="en-IN" sz="2000" b="1" dirty="0">
                <a:latin typeface="Times New Roman" panose="02020603050405020304" pitchFamily="18" charset="0"/>
                <a:cs typeface="Times New Roman" panose="02020603050405020304" pitchFamily="18" charset="0"/>
              </a:rPr>
              <a:t>Database &amp; Storage</a:t>
            </a:r>
          </a:p>
          <a:p>
            <a:r>
              <a:rPr lang="en-IN" sz="2000" b="1" dirty="0">
                <a:latin typeface="Times New Roman" panose="02020603050405020304" pitchFamily="18" charset="0"/>
                <a:cs typeface="Times New Roman" panose="02020603050405020304" pitchFamily="18" charset="0"/>
              </a:rPr>
              <a:t>  MySQL</a:t>
            </a:r>
            <a:r>
              <a:rPr lang="en-IN" sz="2000" dirty="0">
                <a:latin typeface="Times New Roman" panose="02020603050405020304" pitchFamily="18" charset="0"/>
                <a:cs typeface="Times New Roman" panose="02020603050405020304" pitchFamily="18" charset="0"/>
              </a:rPr>
              <a:t> — main relational database for users, sellers, products, orders</a:t>
            </a:r>
          </a:p>
          <a:p>
            <a:r>
              <a:rPr lang="en-IN" sz="2000" b="1" dirty="0">
                <a:latin typeface="Times New Roman" panose="02020603050405020304" pitchFamily="18" charset="0"/>
                <a:cs typeface="Times New Roman" panose="02020603050405020304" pitchFamily="18" charset="0"/>
              </a:rPr>
              <a:t>  Firebase </a:t>
            </a:r>
            <a:r>
              <a:rPr lang="en-IN" sz="2000" b="1" dirty="0" err="1">
                <a:latin typeface="Times New Roman" panose="02020603050405020304" pitchFamily="18" charset="0"/>
                <a:cs typeface="Times New Roman" panose="02020603050405020304" pitchFamily="18" charset="0"/>
              </a:rPr>
              <a:t>Firestore</a:t>
            </a:r>
            <a:r>
              <a:rPr lang="en-IN" sz="2000" dirty="0">
                <a:latin typeface="Times New Roman" panose="02020603050405020304" pitchFamily="18" charset="0"/>
                <a:cs typeface="Times New Roman" panose="02020603050405020304" pitchFamily="18" charset="0"/>
              </a:rPr>
              <a:t> — optional for real-time order updates &amp; vendor online status</a:t>
            </a:r>
          </a:p>
          <a:p>
            <a:r>
              <a:rPr lang="en-IN" sz="2000" b="1" dirty="0">
                <a:latin typeface="Times New Roman" panose="02020603050405020304" pitchFamily="18" charset="0"/>
                <a:cs typeface="Times New Roman" panose="02020603050405020304" pitchFamily="18" charset="0"/>
              </a:rPr>
              <a:t>  Cloud Storage (AWS S3 / Firebase Storage)</a:t>
            </a:r>
            <a:r>
              <a:rPr lang="en-IN" sz="2000" dirty="0">
                <a:latin typeface="Times New Roman" panose="02020603050405020304" pitchFamily="18" charset="0"/>
                <a:cs typeface="Times New Roman" panose="02020603050405020304" pitchFamily="18" charset="0"/>
              </a:rPr>
              <a:t> for user &amp; product images</a:t>
            </a:r>
          </a:p>
        </p:txBody>
      </p:sp>
      <p:grpSp>
        <p:nvGrpSpPr>
          <p:cNvPr id="4" name="Group 3"/>
          <p:cNvGrpSpPr/>
          <p:nvPr/>
        </p:nvGrpSpPr>
        <p:grpSpPr>
          <a:xfrm>
            <a:off x="1422400" y="4541608"/>
            <a:ext cx="9217801" cy="1539455"/>
            <a:chOff x="2240" y="7152"/>
            <a:chExt cx="14516" cy="2424"/>
          </a:xfrm>
        </p:grpSpPr>
        <p:grpSp>
          <p:nvGrpSpPr>
            <p:cNvPr id="3" name="Group 2"/>
            <p:cNvGrpSpPr/>
            <p:nvPr/>
          </p:nvGrpSpPr>
          <p:grpSpPr>
            <a:xfrm>
              <a:off x="5477" y="7152"/>
              <a:ext cx="11279" cy="2424"/>
              <a:chOff x="1183" y="6387"/>
              <a:chExt cx="17512" cy="3764"/>
            </a:xfrm>
          </p:grpSpPr>
          <p:pic>
            <p:nvPicPr>
              <p:cNvPr id="8" name="Picture 7"/>
              <p:cNvPicPr/>
              <p:nvPr/>
            </p:nvPicPr>
            <p:blipFill>
              <a:blip r:embed="rId2"/>
              <a:srcRect l="3713" t="27173" r="3150" b="28551"/>
              <a:stretch>
                <a:fillRect/>
              </a:stretch>
            </p:blipFill>
            <p:spPr>
              <a:xfrm>
                <a:off x="1183" y="7004"/>
                <a:ext cx="4905" cy="3147"/>
              </a:xfrm>
              <a:prstGeom prst="rect">
                <a:avLst/>
              </a:prstGeom>
            </p:spPr>
          </p:pic>
          <p:pic>
            <p:nvPicPr>
              <p:cNvPr id="9" name="Picture 8"/>
              <p:cNvPicPr/>
              <p:nvPr/>
            </p:nvPicPr>
            <p:blipFill>
              <a:blip r:embed="rId3"/>
              <a:stretch>
                <a:fillRect/>
              </a:stretch>
            </p:blipFill>
            <p:spPr>
              <a:xfrm>
                <a:off x="13161" y="6387"/>
                <a:ext cx="5534" cy="3541"/>
              </a:xfrm>
              <a:prstGeom prst="rect">
                <a:avLst/>
              </a:prstGeom>
            </p:spPr>
          </p:pic>
          <p:pic>
            <p:nvPicPr>
              <p:cNvPr id="11" name="Picture 10"/>
              <p:cNvPicPr/>
              <p:nvPr/>
            </p:nvPicPr>
            <p:blipFill>
              <a:blip r:embed="rId4"/>
              <a:srcRect b="16869"/>
              <a:stretch>
                <a:fillRect/>
              </a:stretch>
            </p:blipFill>
            <p:spPr>
              <a:xfrm>
                <a:off x="7183" y="7228"/>
                <a:ext cx="4297" cy="2532"/>
              </a:xfrm>
              <a:prstGeom prst="rect">
                <a:avLst/>
              </a:prstGeom>
            </p:spPr>
          </p:pic>
        </p:grpSp>
        <p:pic>
          <p:nvPicPr>
            <p:cNvPr id="6" name="Picture 5"/>
            <p:cNvPicPr/>
            <p:nvPr/>
          </p:nvPicPr>
          <p:blipFill>
            <a:blip r:embed="rId5"/>
            <a:stretch>
              <a:fillRect/>
            </a:stretch>
          </p:blipFill>
          <p:spPr>
            <a:xfrm>
              <a:off x="2240" y="7440"/>
              <a:ext cx="2118" cy="1993"/>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52F1-297B-D315-67DD-BFA4222B91D1}"/>
            </a:ext>
          </a:extLst>
        </p:cNvPr>
        <p:cNvGrpSpPr/>
        <p:nvPr/>
      </p:nvGrpSpPr>
      <p:grpSpPr>
        <a:xfrm>
          <a:off x="0" y="0"/>
          <a:ext cx="0" cy="0"/>
          <a:chOff x="0" y="0"/>
          <a:chExt cx="0" cy="0"/>
        </a:xfrm>
      </p:grpSpPr>
      <p:sp>
        <p:nvSpPr>
          <p:cNvPr id="136" name="Google Shape;136;p2">
            <a:extLst>
              <a:ext uri="{FF2B5EF4-FFF2-40B4-BE49-F238E27FC236}">
                <a16:creationId xmlns:a16="http://schemas.microsoft.com/office/drawing/2014/main" id="{99C50977-2930-02A8-0225-E159C7ED7571}"/>
              </a:ext>
            </a:extLst>
          </p:cNvPr>
          <p:cNvSpPr/>
          <p:nvPr/>
        </p:nvSpPr>
        <p:spPr>
          <a:xfrm>
            <a:off x="4231322" y="357822"/>
            <a:ext cx="3730165" cy="472451"/>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IN" altLang="en-US" sz="2000" dirty="0">
                <a:solidFill>
                  <a:schemeClr val="bg1"/>
                </a:solidFill>
              </a:rPr>
              <a:t>TECH STACKS</a:t>
            </a:r>
          </a:p>
        </p:txBody>
      </p:sp>
      <p:sp>
        <p:nvSpPr>
          <p:cNvPr id="2" name="Text Box 1">
            <a:extLst>
              <a:ext uri="{FF2B5EF4-FFF2-40B4-BE49-F238E27FC236}">
                <a16:creationId xmlns:a16="http://schemas.microsoft.com/office/drawing/2014/main" id="{108B84B4-CE26-CEE2-CE28-6FFD453EBEC8}"/>
              </a:ext>
            </a:extLst>
          </p:cNvPr>
          <p:cNvSpPr txBox="1"/>
          <p:nvPr/>
        </p:nvSpPr>
        <p:spPr>
          <a:xfrm>
            <a:off x="975501" y="712146"/>
            <a:ext cx="9664700" cy="3603625"/>
          </a:xfrm>
          <a:prstGeom prst="rect">
            <a:avLst/>
          </a:prstGeom>
        </p:spPr>
        <p:txBody>
          <a:bodyPr>
            <a:noAutofit/>
          </a:bodyPr>
          <a:lstStyle/>
          <a:p>
            <a:r>
              <a:rPr lang="en-IN" sz="2000" b="1" dirty="0">
                <a:latin typeface="Times New Roman" panose="02020603050405020304" pitchFamily="18" charset="0"/>
                <a:cs typeface="Times New Roman" panose="02020603050405020304" pitchFamily="18" charset="0"/>
              </a:rPr>
              <a:t>Authentication &amp; Security</a:t>
            </a:r>
          </a:p>
          <a:p>
            <a:r>
              <a:rPr lang="en-IN" sz="2000" b="1" dirty="0">
                <a:latin typeface="Times New Roman" panose="02020603050405020304" pitchFamily="18" charset="0"/>
                <a:cs typeface="Times New Roman" panose="02020603050405020304" pitchFamily="18" charset="0"/>
              </a:rPr>
              <a:t>   JWT (JSON Web Tokens)</a:t>
            </a:r>
            <a:r>
              <a:rPr lang="en-IN" sz="2000" dirty="0">
                <a:latin typeface="Times New Roman" panose="02020603050405020304" pitchFamily="18" charset="0"/>
                <a:cs typeface="Times New Roman" panose="02020603050405020304" pitchFamily="18" charset="0"/>
              </a:rPr>
              <a:t> — secure login for both web &amp; mobile</a:t>
            </a:r>
          </a:p>
          <a:p>
            <a:r>
              <a:rPr lang="en-IN" sz="2000" b="1" dirty="0">
                <a:latin typeface="Times New Roman" panose="02020603050405020304" pitchFamily="18" charset="0"/>
                <a:cs typeface="Times New Roman" panose="02020603050405020304" pitchFamily="18" charset="0"/>
              </a:rPr>
              <a:t>   OAuth / Firebase Authentication</a:t>
            </a:r>
            <a:r>
              <a:rPr lang="en-IN" sz="2000" dirty="0">
                <a:latin typeface="Times New Roman" panose="02020603050405020304" pitchFamily="18" charset="0"/>
                <a:cs typeface="Times New Roman" panose="02020603050405020304" pitchFamily="18" charset="0"/>
              </a:rPr>
              <a:t> — Google login for vendor onboarding</a:t>
            </a:r>
          </a:p>
          <a:p>
            <a:r>
              <a:rPr lang="en-IN" sz="2000" b="1" dirty="0">
                <a:latin typeface="Times New Roman" panose="02020603050405020304" pitchFamily="18" charset="0"/>
                <a:cs typeface="Times New Roman" panose="02020603050405020304" pitchFamily="18" charset="0"/>
              </a:rPr>
              <a:t>   Encrypted UPI token handling</a:t>
            </a:r>
            <a:r>
              <a:rPr lang="en-IN" sz="2000" dirty="0">
                <a:latin typeface="Times New Roman" panose="02020603050405020304" pitchFamily="18" charset="0"/>
                <a:cs typeface="Times New Roman" panose="02020603050405020304" pitchFamily="18" charset="0"/>
              </a:rPr>
              <a:t> — for secure payment initiation</a:t>
            </a:r>
          </a:p>
          <a:p>
            <a:r>
              <a:rPr lang="en-US" sz="2000" b="1" dirty="0">
                <a:latin typeface="Times New Roman" panose="02020603050405020304" pitchFamily="18" charset="0"/>
                <a:cs typeface="Times New Roman" panose="02020603050405020304" pitchFamily="18" charset="0"/>
              </a:rPr>
              <a:t>Payments</a:t>
            </a:r>
          </a:p>
          <a:p>
            <a:r>
              <a:rPr lang="en-US" sz="2000" b="1" dirty="0">
                <a:latin typeface="Times New Roman" panose="02020603050405020304" pitchFamily="18" charset="0"/>
                <a:cs typeface="Times New Roman" panose="02020603050405020304" pitchFamily="18" charset="0"/>
              </a:rPr>
              <a:t>   UPI Integration (</a:t>
            </a:r>
            <a:r>
              <a:rPr lang="en-US" sz="2000" b="1" dirty="0" err="1">
                <a:latin typeface="Times New Roman" panose="02020603050405020304" pitchFamily="18" charset="0"/>
                <a:cs typeface="Times New Roman" panose="02020603050405020304" pitchFamily="18" charset="0"/>
              </a:rPr>
              <a:t>Razorpay</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PhonePe</a:t>
            </a:r>
            <a:r>
              <a:rPr lang="en-US" sz="2000" b="1" dirty="0">
                <a:latin typeface="Times New Roman" panose="02020603050405020304" pitchFamily="18" charset="0"/>
                <a:cs typeface="Times New Roman" panose="02020603050405020304" pitchFamily="18" charset="0"/>
              </a:rPr>
              <a:t> APIs)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UPI QR auto-generation for each seller</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Secure client-side payment handoff</a:t>
            </a:r>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Hosting &amp; Deployment</a:t>
            </a:r>
          </a:p>
          <a:p>
            <a:r>
              <a:rPr lang="en-IN" sz="2000" b="1" dirty="0">
                <a:latin typeface="Times New Roman" panose="02020603050405020304" pitchFamily="18" charset="0"/>
                <a:cs typeface="Times New Roman" panose="02020603050405020304" pitchFamily="18" charset="0"/>
              </a:rPr>
              <a:t>   AWS EC2 / Elastic Beanstalk</a:t>
            </a:r>
            <a:r>
              <a:rPr lang="en-IN" sz="2000" dirty="0">
                <a:latin typeface="Times New Roman" panose="02020603050405020304" pitchFamily="18" charset="0"/>
                <a:cs typeface="Times New Roman" panose="02020603050405020304" pitchFamily="18" charset="0"/>
              </a:rPr>
              <a:t> — backend hosting</a:t>
            </a:r>
          </a:p>
          <a:p>
            <a:r>
              <a:rPr lang="en-IN" sz="2000" b="1" dirty="0">
                <a:latin typeface="Times New Roman" panose="02020603050405020304" pitchFamily="18" charset="0"/>
                <a:cs typeface="Times New Roman" panose="02020603050405020304" pitchFamily="18" charset="0"/>
              </a:rPr>
              <a:t>   AWS RDS</a:t>
            </a:r>
            <a:r>
              <a:rPr lang="en-IN" sz="2000" dirty="0">
                <a:latin typeface="Times New Roman" panose="02020603050405020304" pitchFamily="18" charset="0"/>
                <a:cs typeface="Times New Roman" panose="02020603050405020304" pitchFamily="18" charset="0"/>
              </a:rPr>
              <a:t> — MySQL hosted database</a:t>
            </a:r>
          </a:p>
          <a:p>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Vercel</a:t>
            </a:r>
            <a:r>
              <a:rPr lang="en-IN" sz="2000" b="1" dirty="0">
                <a:latin typeface="Times New Roman" panose="02020603050405020304" pitchFamily="18" charset="0"/>
                <a:cs typeface="Times New Roman" panose="02020603050405020304" pitchFamily="18" charset="0"/>
              </a:rPr>
              <a:t> / Netlify</a:t>
            </a:r>
            <a:r>
              <a:rPr lang="en-IN" sz="2000" dirty="0">
                <a:latin typeface="Times New Roman" panose="02020603050405020304" pitchFamily="18" charset="0"/>
                <a:cs typeface="Times New Roman" panose="02020603050405020304" pitchFamily="18" charset="0"/>
              </a:rPr>
              <a:t> — hosting for web front-end</a:t>
            </a:r>
          </a:p>
          <a:p>
            <a:r>
              <a:rPr lang="en-IN" sz="2000" b="1" dirty="0">
                <a:latin typeface="Times New Roman" panose="02020603050405020304" pitchFamily="18" charset="0"/>
                <a:cs typeface="Times New Roman" panose="02020603050405020304" pitchFamily="18" charset="0"/>
              </a:rPr>
              <a:t>   Firebase App Distribution</a:t>
            </a:r>
            <a:r>
              <a:rPr lang="en-IN" sz="2000" dirty="0">
                <a:latin typeface="Times New Roman" panose="02020603050405020304" pitchFamily="18" charset="0"/>
                <a:cs typeface="Times New Roman" panose="02020603050405020304" pitchFamily="18" charset="0"/>
              </a:rPr>
              <a:t> — internal testing for the mobile app</a:t>
            </a:r>
          </a:p>
        </p:txBody>
      </p:sp>
      <p:grpSp>
        <p:nvGrpSpPr>
          <p:cNvPr id="4" name="Group 3">
            <a:extLst>
              <a:ext uri="{FF2B5EF4-FFF2-40B4-BE49-F238E27FC236}">
                <a16:creationId xmlns:a16="http://schemas.microsoft.com/office/drawing/2014/main" id="{D2DB717A-EB32-E8A2-D890-E300300C2D0B}"/>
              </a:ext>
            </a:extLst>
          </p:cNvPr>
          <p:cNvGrpSpPr/>
          <p:nvPr/>
        </p:nvGrpSpPr>
        <p:grpSpPr>
          <a:xfrm>
            <a:off x="1422400" y="4541608"/>
            <a:ext cx="9217801" cy="1539455"/>
            <a:chOff x="2240" y="7152"/>
            <a:chExt cx="14516" cy="2424"/>
          </a:xfrm>
        </p:grpSpPr>
        <p:grpSp>
          <p:nvGrpSpPr>
            <p:cNvPr id="3" name="Group 2">
              <a:extLst>
                <a:ext uri="{FF2B5EF4-FFF2-40B4-BE49-F238E27FC236}">
                  <a16:creationId xmlns:a16="http://schemas.microsoft.com/office/drawing/2014/main" id="{CFB8900E-5E8F-03F3-840C-745A1B3A9097}"/>
                </a:ext>
              </a:extLst>
            </p:cNvPr>
            <p:cNvGrpSpPr/>
            <p:nvPr/>
          </p:nvGrpSpPr>
          <p:grpSpPr>
            <a:xfrm>
              <a:off x="5477" y="7152"/>
              <a:ext cx="11279" cy="2424"/>
              <a:chOff x="1183" y="6387"/>
              <a:chExt cx="17512" cy="3764"/>
            </a:xfrm>
          </p:grpSpPr>
          <p:pic>
            <p:nvPicPr>
              <p:cNvPr id="8" name="Picture 7">
                <a:extLst>
                  <a:ext uri="{FF2B5EF4-FFF2-40B4-BE49-F238E27FC236}">
                    <a16:creationId xmlns:a16="http://schemas.microsoft.com/office/drawing/2014/main" id="{F0045971-4BDE-5E29-908E-ADF3E2A33264}"/>
                  </a:ext>
                </a:extLst>
              </p:cNvPr>
              <p:cNvPicPr/>
              <p:nvPr/>
            </p:nvPicPr>
            <p:blipFill>
              <a:blip r:embed="rId2"/>
              <a:srcRect l="3713" t="27173" r="3150" b="28551"/>
              <a:stretch>
                <a:fillRect/>
              </a:stretch>
            </p:blipFill>
            <p:spPr>
              <a:xfrm>
                <a:off x="1183" y="7004"/>
                <a:ext cx="4905" cy="3147"/>
              </a:xfrm>
              <a:prstGeom prst="rect">
                <a:avLst/>
              </a:prstGeom>
            </p:spPr>
          </p:pic>
          <p:pic>
            <p:nvPicPr>
              <p:cNvPr id="9" name="Picture 8">
                <a:extLst>
                  <a:ext uri="{FF2B5EF4-FFF2-40B4-BE49-F238E27FC236}">
                    <a16:creationId xmlns:a16="http://schemas.microsoft.com/office/drawing/2014/main" id="{47C57207-830C-1D3B-2A71-E3816D7B9EED}"/>
                  </a:ext>
                </a:extLst>
              </p:cNvPr>
              <p:cNvPicPr/>
              <p:nvPr/>
            </p:nvPicPr>
            <p:blipFill>
              <a:blip r:embed="rId3"/>
              <a:stretch>
                <a:fillRect/>
              </a:stretch>
            </p:blipFill>
            <p:spPr>
              <a:xfrm>
                <a:off x="13161" y="6387"/>
                <a:ext cx="5534" cy="3541"/>
              </a:xfrm>
              <a:prstGeom prst="rect">
                <a:avLst/>
              </a:prstGeom>
            </p:spPr>
          </p:pic>
          <p:pic>
            <p:nvPicPr>
              <p:cNvPr id="11" name="Picture 10">
                <a:extLst>
                  <a:ext uri="{FF2B5EF4-FFF2-40B4-BE49-F238E27FC236}">
                    <a16:creationId xmlns:a16="http://schemas.microsoft.com/office/drawing/2014/main" id="{5C25BA27-5111-83E0-B138-2F861EC562ED}"/>
                  </a:ext>
                </a:extLst>
              </p:cNvPr>
              <p:cNvPicPr/>
              <p:nvPr/>
            </p:nvPicPr>
            <p:blipFill>
              <a:blip r:embed="rId4"/>
              <a:srcRect b="16869"/>
              <a:stretch>
                <a:fillRect/>
              </a:stretch>
            </p:blipFill>
            <p:spPr>
              <a:xfrm>
                <a:off x="7183" y="7228"/>
                <a:ext cx="4297" cy="2532"/>
              </a:xfrm>
              <a:prstGeom prst="rect">
                <a:avLst/>
              </a:prstGeom>
            </p:spPr>
          </p:pic>
        </p:grpSp>
        <p:pic>
          <p:nvPicPr>
            <p:cNvPr id="6" name="Picture 5">
              <a:extLst>
                <a:ext uri="{FF2B5EF4-FFF2-40B4-BE49-F238E27FC236}">
                  <a16:creationId xmlns:a16="http://schemas.microsoft.com/office/drawing/2014/main" id="{DFFAE8ED-4893-C10A-42D2-225074D6A6E4}"/>
                </a:ext>
              </a:extLst>
            </p:cNvPr>
            <p:cNvPicPr/>
            <p:nvPr/>
          </p:nvPicPr>
          <p:blipFill>
            <a:blip r:embed="rId5"/>
            <a:stretch>
              <a:fillRect/>
            </a:stretch>
          </p:blipFill>
          <p:spPr>
            <a:xfrm>
              <a:off x="2240" y="7440"/>
              <a:ext cx="2118" cy="1993"/>
            </a:xfrm>
            <a:prstGeom prst="rect">
              <a:avLst/>
            </a:prstGeom>
          </p:spPr>
        </p:pic>
      </p:grpSp>
    </p:spTree>
    <p:extLst>
      <p:ext uri="{BB962C8B-B14F-4D97-AF65-F5344CB8AC3E}">
        <p14:creationId xmlns:p14="http://schemas.microsoft.com/office/powerpoint/2010/main" val="324444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2715" y="233680"/>
            <a:ext cx="4365625" cy="688340"/>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DISCUSSION AND</a:t>
            </a:r>
            <a:r>
              <a:rPr lang="en-IN" altLang="en-US" sz="2000" dirty="0">
                <a:solidFill>
                  <a:schemeClr val="bg1"/>
                </a:solidFill>
              </a:rPr>
              <a:t> </a:t>
            </a:r>
            <a:r>
              <a:rPr lang="en-US" sz="2000" dirty="0">
                <a:solidFill>
                  <a:schemeClr val="bg1"/>
                </a:solidFill>
              </a:rPr>
              <a:t>CONCLUSION</a:t>
            </a:r>
          </a:p>
        </p:txBody>
      </p:sp>
      <p:sp>
        <p:nvSpPr>
          <p:cNvPr id="5" name="Text Box 4"/>
          <p:cNvSpPr txBox="1"/>
          <p:nvPr/>
        </p:nvSpPr>
        <p:spPr>
          <a:xfrm>
            <a:off x="1135380" y="1206500"/>
            <a:ext cx="10241280" cy="4700270"/>
          </a:xfrm>
          <a:prstGeom prst="rect">
            <a:avLst/>
          </a:prstGeom>
          <a:noFill/>
        </p:spPr>
        <p:txBody>
          <a:bodyPr wrap="square" rtlCol="0" anchor="t">
            <a:noAutofit/>
          </a:bodyPr>
          <a:lstStyle/>
          <a:p>
            <a:pPr marR="0" algn="just" defTabSz="914400" eaLnBrk="0" hangingPunct="0">
              <a:lnSpc>
                <a:spcPct val="140000"/>
              </a:lnSpc>
              <a:buClrTx/>
              <a:buSzTx/>
              <a:buFontTx/>
              <a:buNone/>
              <a:defRPr/>
            </a:pPr>
            <a:r>
              <a:rPr lang="en-US" altLang="en-GB" sz="2000" kern="1200" noProof="0" dirty="0">
                <a:solidFill>
                  <a:schemeClr val="tx1"/>
                </a:solidFill>
                <a:latin typeface="Bookman Old Style" panose="02050604050505020204" pitchFamily="18" charset="0"/>
                <a:ea typeface="+mn-ea"/>
                <a:cs typeface="Bookman Old Style" panose="02050604050505020204" pitchFamily="18" charset="0"/>
                <a:sym typeface="+mn-ea"/>
              </a:rPr>
              <a:t>Tiny Trail’s strengths lie in its localized design, multilingual support for Tamil and English through text or voice input, seamless UPI payments, and the advantage of being easily accessible via the web without requiring a dedicated mobile app. However, its current limitations include the lack of integrated delivery services and the need for stable internet access along with basic digital literacy among users. Looking ahead, the future work involves partnering with logistics providers for delivery support, implementing an AI-powered recommendation engine, expanding the platform to more regional languages, and conducting training workshops to help home entrepreneurs adapt to the digital marketplace.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2"/>
          <p:cNvSpPr/>
          <p:nvPr/>
        </p:nvSpPr>
        <p:spPr>
          <a:xfrm>
            <a:off x="3942715" y="142875"/>
            <a:ext cx="3729990" cy="692150"/>
          </a:xfrm>
          <a:prstGeom prst="roundRect">
            <a:avLst>
              <a:gd name="adj" fmla="val 8893"/>
            </a:avLst>
          </a:prstGeom>
          <a:solidFill>
            <a:srgbClr val="C00000"/>
          </a:solidFill>
          <a:ln>
            <a:noFill/>
          </a:ln>
          <a:effectLst>
            <a:outerShdw blurRad="63500" dist="19050" dir="5400000">
              <a:srgbClr val="000000">
                <a:alpha val="62745"/>
              </a:srgbClr>
            </a:outerShdw>
          </a:effectLst>
        </p:spPr>
        <p:txBody>
          <a:bodyPr spcFirstLastPara="1" wrap="square" lIns="36000" tIns="36000" rIns="36000" bIns="36000" anchor="ctr" anchorCtr="0">
            <a:noAutofit/>
          </a:bodyPr>
          <a:lstStyle/>
          <a:p>
            <a:pPr marL="0" marR="0" lvl="0" indent="0" algn="ctr" rtl="0">
              <a:lnSpc>
                <a:spcPct val="107000"/>
              </a:lnSpc>
              <a:spcBef>
                <a:spcPts val="0"/>
              </a:spcBef>
              <a:spcAft>
                <a:spcPts val="0"/>
              </a:spcAft>
              <a:buClr>
                <a:srgbClr val="FFFFFF"/>
              </a:buClr>
              <a:buSzPts val="2400"/>
              <a:buFont typeface="Calibri" panose="020F0502020204030204"/>
              <a:buNone/>
            </a:pPr>
            <a:r>
              <a:rPr lang="en-US" sz="2000" dirty="0">
                <a:solidFill>
                  <a:schemeClr val="bg1"/>
                </a:solidFill>
              </a:rPr>
              <a:t>REFERENCES                   </a:t>
            </a:r>
          </a:p>
        </p:txBody>
      </p:sp>
      <p:sp>
        <p:nvSpPr>
          <p:cNvPr id="2" name="Text Box 1"/>
          <p:cNvSpPr txBox="1"/>
          <p:nvPr/>
        </p:nvSpPr>
        <p:spPr>
          <a:xfrm>
            <a:off x="1177925" y="1205230"/>
            <a:ext cx="10518140" cy="4645660"/>
          </a:xfrm>
          <a:prstGeom prst="rect">
            <a:avLst/>
          </a:prstGeom>
          <a:noFill/>
        </p:spPr>
        <p:txBody>
          <a:bodyPr wrap="square" rtlCol="0" anchor="t">
            <a:noAutofit/>
          </a:bodyPr>
          <a:lstStyle/>
          <a:p>
            <a:pPr marL="342900" indent="-342900" algn="just">
              <a:lnSpc>
                <a:spcPct val="180000"/>
              </a:lnSpc>
              <a:buFont typeface="Arial" panose="020B0604020202020204" pitchFamily="34" charset="0"/>
              <a:buChar char="•"/>
            </a:pPr>
            <a:r>
              <a:rPr lang="en-US" altLang="en-US" sz="2000" dirty="0">
                <a:latin typeface="Bookman Old Style" panose="02050604050505020204" pitchFamily="18" charset="0"/>
                <a:cs typeface="Bookman Old Style" panose="02050604050505020204" pitchFamily="18" charset="0"/>
                <a:sym typeface="+mn-ea"/>
              </a:rPr>
              <a:t>Rani, S. &amp; Meenakshi, “Women Empowerment via Mobile Commerce”, IJCTT, 2022.</a:t>
            </a:r>
            <a:endParaRPr lang="en-US" altLang="en-US" sz="2000" dirty="0">
              <a:latin typeface="Bookman Old Style" panose="02050604050505020204" pitchFamily="18" charset="0"/>
              <a:cs typeface="Bookman Old Style" panose="02050604050505020204" pitchFamily="18" charset="0"/>
            </a:endParaRPr>
          </a:p>
          <a:p>
            <a:pPr marL="342900" indent="-342900" algn="just">
              <a:lnSpc>
                <a:spcPct val="180000"/>
              </a:lnSpc>
              <a:buFont typeface="Arial" panose="020B0604020202020204" pitchFamily="34" charset="0"/>
              <a:buChar char="•"/>
            </a:pPr>
            <a:r>
              <a:rPr lang="en-US" altLang="en-US" sz="2000" dirty="0">
                <a:latin typeface="Bookman Old Style" panose="02050604050505020204" pitchFamily="18" charset="0"/>
                <a:cs typeface="Bookman Old Style" panose="02050604050505020204" pitchFamily="18" charset="0"/>
                <a:sym typeface="+mn-ea"/>
              </a:rPr>
              <a:t>S. Subha, “Mobile Applications for Cottage Industries”, IJRTE, 2021.</a:t>
            </a:r>
            <a:endParaRPr lang="en-US" altLang="en-US" sz="2000" dirty="0">
              <a:latin typeface="Bookman Old Style" panose="02050604050505020204" pitchFamily="18" charset="0"/>
              <a:cs typeface="Bookman Old Style" panose="02050604050505020204" pitchFamily="18" charset="0"/>
            </a:endParaRPr>
          </a:p>
          <a:p>
            <a:pPr marL="342900" indent="-342900" algn="just">
              <a:lnSpc>
                <a:spcPct val="180000"/>
              </a:lnSpc>
              <a:buFont typeface="Arial" panose="020B0604020202020204" pitchFamily="34" charset="0"/>
              <a:buChar char="•"/>
            </a:pPr>
            <a:r>
              <a:rPr lang="en-US" altLang="en-US" sz="2000" dirty="0">
                <a:latin typeface="Bookman Old Style" panose="02050604050505020204" pitchFamily="18" charset="0"/>
                <a:cs typeface="Bookman Old Style" panose="02050604050505020204" pitchFamily="18" charset="0"/>
                <a:sym typeface="+mn-ea"/>
              </a:rPr>
              <a:t>G. Karthick, “Regional Voice-Based Interfaces for e-Commerce in India”, IJML, 2020.</a:t>
            </a:r>
            <a:endParaRPr lang="en-US" altLang="en-US" sz="2000" dirty="0">
              <a:latin typeface="Bookman Old Style" panose="02050604050505020204" pitchFamily="18" charset="0"/>
              <a:cs typeface="Bookman Old Style" panose="02050604050505020204" pitchFamily="18" charset="0"/>
            </a:endParaRPr>
          </a:p>
          <a:p>
            <a:pPr marL="342900" indent="-342900" algn="just">
              <a:lnSpc>
                <a:spcPct val="180000"/>
              </a:lnSpc>
              <a:buFont typeface="Arial" panose="020B0604020202020204" pitchFamily="34" charset="0"/>
              <a:buChar char="•"/>
            </a:pPr>
            <a:r>
              <a:rPr lang="en-US" altLang="en-US" sz="2000" dirty="0">
                <a:latin typeface="Bookman Old Style" panose="02050604050505020204" pitchFamily="18" charset="0"/>
                <a:cs typeface="Bookman Old Style" panose="02050604050505020204" pitchFamily="18" charset="0"/>
                <a:sym typeface="+mn-ea"/>
              </a:rPr>
              <a:t>Sneha Sharma, “Digital Empowerment of Housewives through Tech Platforms”, IJEIT, 2023.</a:t>
            </a:r>
            <a:endParaRPr lang="en-US" altLang="en-US" sz="2000" dirty="0">
              <a:latin typeface="Bookman Old Style" panose="02050604050505020204" pitchFamily="18" charset="0"/>
              <a:cs typeface="Bookman Old Style" panose="02050604050505020204" pitchFamily="18" charset="0"/>
            </a:endParaRPr>
          </a:p>
          <a:p>
            <a:pPr marL="342900" indent="-342900" algn="just">
              <a:lnSpc>
                <a:spcPct val="180000"/>
              </a:lnSpc>
              <a:buFont typeface="Arial" panose="020B0604020202020204" pitchFamily="34" charset="0"/>
              <a:buChar char="•"/>
            </a:pPr>
            <a:r>
              <a:rPr lang="en-US" altLang="en-US" sz="2000" dirty="0">
                <a:latin typeface="Bookman Old Style" panose="02050604050505020204" pitchFamily="18" charset="0"/>
                <a:cs typeface="Bookman Old Style" panose="02050604050505020204" pitchFamily="18" charset="0"/>
                <a:sym typeface="+mn-ea"/>
              </a:rPr>
              <a:t>C. Priya, “React Native Applications for Small-Scale Retailers”, IEEE Access, 2022.</a:t>
            </a:r>
            <a:endParaRPr lang="en-US" altLang="en-GB" sz="2000" kern="1200" noProof="0" dirty="0">
              <a:solidFill>
                <a:schemeClr val="tx1"/>
              </a:solidFill>
              <a:latin typeface="Bookman Old Style" panose="02050604050505020204" pitchFamily="18" charset="0"/>
              <a:ea typeface="+mn-ea"/>
              <a:cs typeface="Bookman Old Style" panose="020506040505050202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pic>
        <p:nvPicPr>
          <p:cNvPr id="675" name="Google Shape;675;p71"/>
          <p:cNvPicPr preferRelativeResize="0"/>
          <p:nvPr/>
        </p:nvPicPr>
        <p:blipFill rotWithShape="1">
          <a:blip r:embed="rId3"/>
          <a:srcRect l="30107" r="5080"/>
          <a:stretch>
            <a:fillRect/>
          </a:stretch>
        </p:blipFill>
        <p:spPr>
          <a:xfrm>
            <a:off x="0" y="0"/>
            <a:ext cx="12192000" cy="6858000"/>
          </a:xfrm>
          <a:prstGeom prst="rect">
            <a:avLst/>
          </a:prstGeom>
          <a:noFill/>
          <a:ln>
            <a:noFill/>
          </a:ln>
          <a:effectLst>
            <a:outerShdw blurRad="50800" dist="50800" dir="5400000" algn="ctr" rotWithShape="0">
              <a:srgbClr val="A8D08C"/>
            </a:outerShdw>
          </a:effectLst>
        </p:spPr>
      </p:pic>
      <p:sp>
        <p:nvSpPr>
          <p:cNvPr id="676" name="Google Shape;676;p71"/>
          <p:cNvSpPr txBox="1"/>
          <p:nvPr/>
        </p:nvSpPr>
        <p:spPr>
          <a:xfrm>
            <a:off x="1223962" y="-109537"/>
            <a:ext cx="9466262" cy="279717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F0066"/>
              </a:buClr>
              <a:buSzPts val="4000"/>
              <a:buFont typeface="Century Gothic" panose="020B0502020202020204"/>
              <a:buNone/>
            </a:pPr>
            <a:r>
              <a:rPr lang="en-US" sz="4000" b="1" i="0" u="none">
                <a:solidFill>
                  <a:srgbClr val="FF0066"/>
                </a:solidFill>
                <a:latin typeface="Century Gothic" panose="020B0502020202020204"/>
                <a:ea typeface="Century Gothic" panose="020B0502020202020204"/>
                <a:cs typeface="Century Gothic" panose="020B0502020202020204"/>
                <a:sym typeface="Century Gothic" panose="020B0502020202020204"/>
              </a:rPr>
              <a:t>Thank you</a:t>
            </a:r>
          </a:p>
        </p:txBody>
      </p:sp>
      <p:pic>
        <p:nvPicPr>
          <p:cNvPr id="677" name="Google Shape;677;p71"/>
          <p:cNvPicPr preferRelativeResize="0"/>
          <p:nvPr/>
        </p:nvPicPr>
        <p:blipFill rotWithShape="1">
          <a:blip r:embed="rId4"/>
          <a:srcRect/>
          <a:stretch>
            <a:fillRect/>
          </a:stretch>
        </p:blipFill>
        <p:spPr>
          <a:xfrm>
            <a:off x="4622800" y="2000250"/>
            <a:ext cx="2670175" cy="2857500"/>
          </a:xfrm>
          <a:prstGeom prst="rect">
            <a:avLst/>
          </a:prstGeom>
          <a:noFill/>
          <a:ln>
            <a:noFill/>
          </a:ln>
          <a:effectLst>
            <a:outerShdw blurRad="63500" dist="38100" dir="2700000">
              <a:srgbClr val="000000">
                <a:alpha val="39607"/>
              </a:srgbClr>
            </a:outerShdw>
          </a:effectLst>
        </p:spPr>
      </p:pic>
      <p:sp>
        <p:nvSpPr>
          <p:cNvPr id="678" name="Google Shape;678;p71"/>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SzPts val="1200"/>
              <a:buFont typeface="Calibri" panose="020F0502020204030204"/>
              <a:buNone/>
            </a:pPr>
            <a:r>
              <a:rPr lang="en-US" sz="1200" b="0" i="0" u="none">
                <a:solidFill>
                  <a:srgbClr val="898989"/>
                </a:solidFill>
                <a:latin typeface="Calibri" panose="020F0502020204030204"/>
                <a:ea typeface="Calibri" panose="020F0502020204030204"/>
                <a:cs typeface="Calibri" panose="020F0502020204030204"/>
                <a:sym typeface="Calibri" panose="020F0502020204030204"/>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1330</Words>
  <Application>Microsoft Office PowerPoint</Application>
  <PresentationFormat>Widescreen</PresentationFormat>
  <Paragraphs>145</Paragraphs>
  <Slides>20</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vt:i4>
      </vt:variant>
    </vt:vector>
  </HeadingPairs>
  <TitlesOfParts>
    <vt:vector size="30" baseType="lpstr">
      <vt:lpstr>Calibri</vt:lpstr>
      <vt:lpstr>Arial</vt:lpstr>
      <vt:lpstr>Quattrocento Sans</vt:lpstr>
      <vt:lpstr>Arial Rounded MT Bold</vt:lpstr>
      <vt:lpstr>Overlock</vt:lpstr>
      <vt:lpstr>Century Gothic</vt:lpstr>
      <vt:lpstr>Times New Roman</vt:lpstr>
      <vt:lpstr>Bookman Old Style</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 V R</dc:creator>
  <cp:lastModifiedBy>thiso oreos</cp:lastModifiedBy>
  <cp:revision>135</cp:revision>
  <dcterms:created xsi:type="dcterms:W3CDTF">2022-02-09T05:59:00Z</dcterms:created>
  <dcterms:modified xsi:type="dcterms:W3CDTF">2025-11-13T04:46:18Z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47FE6DD8937041B8900B0DE969FD4706_12</vt:lpwstr>
  </property>
  <property fmtid="{D5CDD505-2E9C-101B-9397-08002B2CF9AE}" pid="3" name="KSOProductBuildVer">
    <vt:lpwstr>2057-12.2.0.22556</vt:lpwstr>
  </property>
</Properties>
</file>